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 ExtraBold"/>
      <p:bold r:id="rId17"/>
      <p:boldItalic r:id="rId18"/>
    </p:embeddedFont>
    <p:embeddedFont>
      <p:font typeface="Roboto"/>
      <p:regular r:id="rId19"/>
      <p:bold r:id="rId20"/>
      <p:italic r:id="rId21"/>
      <p:boldItalic r:id="rId22"/>
    </p:embeddedFont>
    <p:embeddedFont>
      <p:font typeface="Roboto Medium"/>
      <p:regular r:id="rId23"/>
      <p:bold r:id="rId24"/>
      <p:italic r:id="rId25"/>
      <p:boldItalic r:id="rId26"/>
    </p:embeddedFont>
    <p:embeddedFont>
      <p:font typeface="Roboto SemiBold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1" roundtripDataSignature="AMtx7mh+DCccY58MVRQ3RLDeXHgkQcXc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RobotoMedium-bold.fntdata"/><Relationship Id="rId23" Type="http://schemas.openxmlformats.org/officeDocument/2006/relationships/font" Target="fonts/RobotoMedium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edium-boldItalic.fntdata"/><Relationship Id="rId25" Type="http://schemas.openxmlformats.org/officeDocument/2006/relationships/font" Target="fonts/RobotoMedium-italic.fntdata"/><Relationship Id="rId28" Type="http://schemas.openxmlformats.org/officeDocument/2006/relationships/font" Target="fonts/RobotoSemiBold-bold.fntdata"/><Relationship Id="rId27" Type="http://schemas.openxmlformats.org/officeDocument/2006/relationships/font" Target="fonts/Roboto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SemiBol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font" Target="fonts/RobotoSemiBold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ExtraBold-bold.fntdata"/><Relationship Id="rId16" Type="http://schemas.openxmlformats.org/officeDocument/2006/relationships/slide" Target="slides/slide11.xml"/><Relationship Id="rId19" Type="http://schemas.openxmlformats.org/officeDocument/2006/relationships/font" Target="fonts/Roboto-regular.fntdata"/><Relationship Id="rId18" Type="http://schemas.openxmlformats.org/officeDocument/2006/relationships/font" Target="fonts/RobotoExtra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9f346afc3_2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3f9f346afc3_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8aee9e95e_27_0)">
  <p:cSld name="Generated (g3f8aee9e95e_27_0)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1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2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2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2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181B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"/>
          <p:cNvGrpSpPr/>
          <p:nvPr/>
        </p:nvGrpSpPr>
        <p:grpSpPr>
          <a:xfrm>
            <a:off x="-1528762" y="-2381250"/>
            <a:ext cx="10672912" cy="7524750"/>
            <a:chOff x="-1528762" y="-2381250"/>
            <a:chExt cx="10672912" cy="7524750"/>
          </a:xfrm>
        </p:grpSpPr>
        <p:pic>
          <p:nvPicPr>
            <p:cNvPr id="56" name="Google Shape;56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57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857750" y="-2381250"/>
              <a:ext cx="4286400" cy="647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58;p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-1528762" y="1800225"/>
              <a:ext cx="4962600" cy="3343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" name="Google Shape;59;p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096250" y="381000"/>
              <a:ext cx="476400" cy="4764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0" name="Google Shape;60;p1"/>
          <p:cNvPicPr preferRelativeResize="0"/>
          <p:nvPr/>
        </p:nvPicPr>
        <p:blipFill rotWithShape="1">
          <a:blip r:embed="rId7">
            <a:alphaModFix/>
          </a:blip>
          <a:srcRect b="0" l="10" r="10" t="0"/>
          <a:stretch/>
        </p:blipFill>
        <p:spPr>
          <a:xfrm>
            <a:off x="571500" y="1047750"/>
            <a:ext cx="2667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"/>
          <p:cNvSpPr txBox="1"/>
          <p:nvPr/>
        </p:nvSpPr>
        <p:spPr>
          <a:xfrm>
            <a:off x="571500" y="2095500"/>
            <a:ext cx="800100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2DD4B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Excelencia Técnica e Innovación</a:t>
            </a:r>
            <a:endParaRPr b="0" i="0" sz="1200" u="none" cap="none" strike="noStrike">
              <a:solidFill>
                <a:srgbClr val="2DD4BF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s-419" sz="3400" u="none" cap="none" strike="noStrike">
                <a:solidFill>
                  <a:srgbClr val="F8FAF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Infraestructura Tecnológica y Seguridad de Alto Impacto</a:t>
            </a:r>
            <a:endParaRPr b="0" i="0" sz="3400" u="none" cap="none" strike="noStrike">
              <a:solidFill>
                <a:srgbClr val="F8FAFC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s-419" sz="135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Lideramos el desarrollo de soluciones avanzadas, diseñando arquitecturas seguras y procesos de transformación digital preparados para el futuro.</a:t>
            </a:r>
            <a:endParaRPr b="0" i="0" sz="1350" u="none" cap="none" strike="noStrike">
              <a:solidFill>
                <a:srgbClr val="94A3B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2" name="Google Shape;62;p1"/>
          <p:cNvGrpSpPr/>
          <p:nvPr/>
        </p:nvGrpSpPr>
        <p:grpSpPr>
          <a:xfrm>
            <a:off x="571500" y="4476750"/>
            <a:ext cx="1905000" cy="285900"/>
            <a:chOff x="571500" y="4476750"/>
            <a:chExt cx="1905000" cy="285900"/>
          </a:xfrm>
        </p:grpSpPr>
        <p:sp>
          <p:nvSpPr>
            <p:cNvPr id="63" name="Google Shape;63;p1"/>
            <p:cNvSpPr/>
            <p:nvPr/>
          </p:nvSpPr>
          <p:spPr>
            <a:xfrm>
              <a:off x="571500" y="4476750"/>
              <a:ext cx="1905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1"/>
            <p:cNvSpPr txBox="1"/>
            <p:nvPr/>
          </p:nvSpPr>
          <p:spPr>
            <a:xfrm>
              <a:off x="571500" y="44767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s-419" sz="1100" u="none" cap="none" strike="noStrike">
                  <a:solidFill>
                    <a:srgbClr val="94A3B8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klinyshield.cl</a:t>
              </a:r>
              <a:endParaRPr b="0" i="0" sz="1100" u="none" cap="none" strike="noStrike">
                <a:solidFill>
                  <a:srgbClr val="94A3B8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0" y="-2381250"/>
            <a:ext cx="4286400" cy="64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1528762" y="1800225"/>
            <a:ext cx="4962600" cy="33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2"/>
          <p:cNvSpPr txBox="1"/>
          <p:nvPr/>
        </p:nvSpPr>
        <p:spPr>
          <a:xfrm>
            <a:off x="571500" y="619125"/>
            <a:ext cx="8001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0"/>
              <a:buFont typeface="Arial"/>
              <a:buNone/>
            </a:pPr>
            <a:r>
              <a:rPr b="0" i="0" lang="es-419" sz="1020" u="none" cap="none" strike="noStrike">
                <a:solidFill>
                  <a:srgbClr val="2DD4B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Nuestra Identidad</a:t>
            </a:r>
            <a:endParaRPr b="0" i="0" sz="1020" u="none" cap="none" strike="noStrike">
              <a:solidFill>
                <a:srgbClr val="2DD4BF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720"/>
              <a:buFont typeface="Arial"/>
              <a:buNone/>
            </a:pPr>
            <a:r>
              <a:rPr b="0" i="0" lang="es-419" sz="2720" u="none" cap="none" strike="noStrike">
                <a:solidFill>
                  <a:srgbClr val="F8FAF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Quiénes Somos</a:t>
            </a:r>
            <a:endParaRPr b="0" i="0" sz="1020" u="none" cap="none" strike="noStrike">
              <a:solidFill>
                <a:srgbClr val="2DD4BF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105"/>
              <a:buFont typeface="Arial"/>
              <a:buNone/>
            </a:pPr>
            <a:r>
              <a:rPr b="0" i="0" lang="es-419" sz="1105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El equipo fundador detrás de la arquitectura, seguridad y experiencia de KlinyShield.</a:t>
            </a:r>
            <a:endParaRPr b="0" i="0" sz="1020" u="none" cap="none" strike="noStrike">
              <a:solidFill>
                <a:srgbClr val="2DD4BF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grpSp>
        <p:nvGrpSpPr>
          <p:cNvPr id="73" name="Google Shape;73;p2"/>
          <p:cNvGrpSpPr/>
          <p:nvPr/>
        </p:nvGrpSpPr>
        <p:grpSpPr>
          <a:xfrm>
            <a:off x="3348038" y="2138363"/>
            <a:ext cx="2448000" cy="2390700"/>
            <a:chOff x="-4762" y="-4762"/>
            <a:chExt cx="2448000" cy="2390700"/>
          </a:xfrm>
        </p:grpSpPr>
        <p:pic>
          <p:nvPicPr>
            <p:cNvPr id="74" name="Google Shape;74;p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-4762" y="-4762"/>
              <a:ext cx="2448000" cy="2390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" name="Google Shape;75;p2"/>
            <p:cNvSpPr txBox="1"/>
            <p:nvPr/>
          </p:nvSpPr>
          <p:spPr>
            <a:xfrm>
              <a:off x="152400" y="142875"/>
              <a:ext cx="2133600" cy="2000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s-419" sz="1300" u="none" cap="none" strike="noStrike">
                  <a:solidFill>
                    <a:srgbClr val="F1F5F9"/>
                  </a:solidFill>
                  <a:latin typeface="Roboto"/>
                  <a:ea typeface="Roboto"/>
                  <a:cs typeface="Roboto"/>
                  <a:sym typeface="Roboto"/>
                </a:rPr>
                <a:t>Maximiliano Durán</a:t>
              </a:r>
              <a:endParaRPr b="1" i="0" sz="1300" u="none" cap="none" strike="noStrike">
                <a:solidFill>
                  <a:srgbClr val="F1F5F9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0" i="0" lang="es-419" sz="950" u="none" cap="none" strike="noStrike">
                  <a:solidFill>
                    <a:srgbClr val="2DD4B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Co-Founder &amp; Ingeniero Informático</a:t>
              </a:r>
              <a:endParaRPr b="0" i="0" sz="950" u="none" cap="none" strike="noStrike">
                <a:solidFill>
                  <a:srgbClr val="2DD4BF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920"/>
                <a:buFont typeface="Arial"/>
                <a:buNone/>
              </a:pPr>
              <a:r>
                <a:t/>
              </a:r>
              <a:endParaRPr b="0" i="0" sz="92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6" name="Google Shape;76;p2"/>
          <p:cNvGrpSpPr/>
          <p:nvPr/>
        </p:nvGrpSpPr>
        <p:grpSpPr>
          <a:xfrm>
            <a:off x="6129338" y="2138363"/>
            <a:ext cx="2448000" cy="2390700"/>
            <a:chOff x="-4762" y="-4762"/>
            <a:chExt cx="2448000" cy="2390700"/>
          </a:xfrm>
        </p:grpSpPr>
        <p:pic>
          <p:nvPicPr>
            <p:cNvPr id="77" name="Google Shape;77;p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-4762" y="-4762"/>
              <a:ext cx="2448000" cy="2390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2"/>
            <p:cNvSpPr txBox="1"/>
            <p:nvPr/>
          </p:nvSpPr>
          <p:spPr>
            <a:xfrm>
              <a:off x="152400" y="142875"/>
              <a:ext cx="2133600" cy="2000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s-419" sz="1300" u="none" cap="none" strike="noStrike">
                  <a:solidFill>
                    <a:srgbClr val="F1F5F9"/>
                  </a:solidFill>
                  <a:latin typeface="Roboto"/>
                  <a:ea typeface="Roboto"/>
                  <a:cs typeface="Roboto"/>
                  <a:sym typeface="Roboto"/>
                </a:rPr>
                <a:t>Vicente Solorza</a:t>
              </a:r>
              <a:endParaRPr b="1" i="0" sz="1300" u="none" cap="none" strike="noStrike">
                <a:solidFill>
                  <a:srgbClr val="F1F5F9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0" i="0" lang="es-419" sz="950" u="none" cap="none" strike="noStrike">
                  <a:solidFill>
                    <a:srgbClr val="2DD4B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Co-Founder &amp; Ingeniero Informático</a:t>
              </a:r>
              <a:endParaRPr b="0" i="0" sz="950" u="none" cap="none" strike="noStrike">
                <a:solidFill>
                  <a:srgbClr val="2DD4BF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t/>
              </a:r>
              <a:endParaRPr b="0" i="0" sz="95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9" name="Google Shape;79;p2"/>
          <p:cNvGrpSpPr/>
          <p:nvPr/>
        </p:nvGrpSpPr>
        <p:grpSpPr>
          <a:xfrm>
            <a:off x="566738" y="2138363"/>
            <a:ext cx="2448000" cy="2390700"/>
            <a:chOff x="-4762" y="-4762"/>
            <a:chExt cx="2448000" cy="2390700"/>
          </a:xfrm>
        </p:grpSpPr>
        <p:pic>
          <p:nvPicPr>
            <p:cNvPr id="80" name="Google Shape;80;p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-4762" y="-4762"/>
              <a:ext cx="2448000" cy="2390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" name="Google Shape;81;p2"/>
            <p:cNvSpPr txBox="1"/>
            <p:nvPr/>
          </p:nvSpPr>
          <p:spPr>
            <a:xfrm>
              <a:off x="152400" y="142875"/>
              <a:ext cx="2133600" cy="2000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s-419" sz="1300" u="none" cap="none" strike="noStrike">
                  <a:solidFill>
                    <a:srgbClr val="F1F5F9"/>
                  </a:solidFill>
                  <a:latin typeface="Roboto"/>
                  <a:ea typeface="Roboto"/>
                  <a:cs typeface="Roboto"/>
                  <a:sym typeface="Roboto"/>
                </a:rPr>
                <a:t>Felipe Urbina</a:t>
              </a:r>
              <a:endParaRPr b="1" i="0" sz="1300" u="none" cap="none" strike="noStrike">
                <a:solidFill>
                  <a:srgbClr val="F1F5F9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0" i="0" lang="es-419" sz="950" u="none" cap="none" strike="noStrike">
                  <a:solidFill>
                    <a:srgbClr val="2DD4B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Co-Founder &amp; Ingeniero Informático</a:t>
              </a:r>
              <a:endParaRPr b="0" i="0" sz="950" u="none" cap="none" strike="noStrike">
                <a:solidFill>
                  <a:srgbClr val="2DD4BF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t/>
              </a:r>
              <a:endParaRPr b="0" i="0" sz="95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82" name="Google Shape;82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96250" y="381000"/>
            <a:ext cx="476400" cy="4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2"/>
          <p:cNvSpPr txBox="1"/>
          <p:nvPr/>
        </p:nvSpPr>
        <p:spPr>
          <a:xfrm>
            <a:off x="571500" y="4619625"/>
            <a:ext cx="8001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94A3B8"/>
                </a:solidFill>
                <a:latin typeface="Roboto Medium"/>
                <a:ea typeface="Roboto Medium"/>
                <a:cs typeface="Roboto Medium"/>
                <a:sym typeface="Roboto Medium"/>
              </a:rPr>
              <a:t>Uniendo ingeniería en informática, nube y ciberseguridad para transformar la gestión médica independiente.</a:t>
            </a:r>
            <a:endParaRPr b="0" i="0" sz="1000" u="none" cap="none" strike="noStrike">
              <a:solidFill>
                <a:srgbClr val="94A3B8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0" y="-2381250"/>
            <a:ext cx="4286400" cy="64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381000"/>
            <a:ext cx="476400" cy="4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3"/>
          <p:cNvSpPr txBox="1"/>
          <p:nvPr/>
        </p:nvSpPr>
        <p:spPr>
          <a:xfrm>
            <a:off x="571500" y="619125"/>
            <a:ext cx="8001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2DD4B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El Desafío del Mercado</a:t>
            </a:r>
            <a:endParaRPr b="0" i="0" sz="1000" u="none" cap="none" strike="noStrike">
              <a:solidFill>
                <a:srgbClr val="2DD4BF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38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-419" sz="2700" u="none" cap="none" strike="noStrike">
                <a:solidFill>
                  <a:srgbClr val="F8FAF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El Problema</a:t>
            </a:r>
            <a:endParaRPr b="0" i="0" sz="1000" u="none" cap="none" strike="noStrike">
              <a:solidFill>
                <a:srgbClr val="2DD4BF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6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419" sz="11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Los desafíos operativos, legales y de seguridad que enfrentan los profesionales de la salud independientes.</a:t>
            </a:r>
            <a:endParaRPr b="0" i="0" sz="1100" u="none" cap="none" strike="noStrike">
              <a:solidFill>
                <a:srgbClr val="94A3B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92" name="Google Shape;92;p3"/>
          <p:cNvGrpSpPr/>
          <p:nvPr/>
        </p:nvGrpSpPr>
        <p:grpSpPr>
          <a:xfrm>
            <a:off x="571500" y="2047875"/>
            <a:ext cx="2476500" cy="2286000"/>
            <a:chOff x="571500" y="2047875"/>
            <a:chExt cx="2476500" cy="2286000"/>
          </a:xfrm>
        </p:grpSpPr>
        <p:sp>
          <p:nvSpPr>
            <p:cNvPr id="93" name="Google Shape;93;p3"/>
            <p:cNvSpPr/>
            <p:nvPr/>
          </p:nvSpPr>
          <p:spPr>
            <a:xfrm>
              <a:off x="571500" y="2047875"/>
              <a:ext cx="2476500" cy="2286000"/>
            </a:xfrm>
            <a:prstGeom prst="roundRect">
              <a:avLst>
                <a:gd fmla="val 5000" name="adj"/>
              </a:avLst>
            </a:prstGeom>
            <a:solidFill>
              <a:srgbClr val="18181B">
                <a:alpha val="70196"/>
              </a:srgbClr>
            </a:solidFill>
            <a:ln cap="flat" cmpd="sng" w="9525">
              <a:solidFill>
                <a:srgbClr val="2727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3"/>
            <p:cNvSpPr txBox="1"/>
            <p:nvPr/>
          </p:nvSpPr>
          <p:spPr>
            <a:xfrm>
              <a:off x="762000" y="2238375"/>
              <a:ext cx="20955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-419" sz="1600" u="none" cap="none" strike="noStrike">
                  <a:solidFill>
                    <a:srgbClr val="2DD4B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01</a:t>
              </a:r>
              <a:endParaRPr b="0" i="0" sz="1600" u="none" cap="none" strike="noStrike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s-419" sz="1100" u="none" cap="none" strike="noStrike">
                  <a:solidFill>
                    <a:srgbClr val="F1F5F9"/>
                  </a:solidFill>
                  <a:latin typeface="Roboto"/>
                  <a:ea typeface="Roboto"/>
                  <a:cs typeface="Roboto"/>
                  <a:sym typeface="Roboto"/>
                </a:rPr>
                <a:t>Falta de Aislamiento y Riesgos de Privacidad</a:t>
              </a:r>
              <a:endParaRPr b="1" i="0" sz="1100" u="none" cap="none" strike="noStrike">
                <a:solidFill>
                  <a:srgbClr val="F1F5F9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s-419" sz="825" u="none" cap="none" strike="noStrike">
                  <a:solidFill>
                    <a:srgbClr val="2DD4BF"/>
                  </a:solidFill>
                  <a:latin typeface="Roboto"/>
                  <a:ea typeface="Roboto"/>
                  <a:cs typeface="Roboto"/>
                  <a:sym typeface="Roboto"/>
                </a:rPr>
                <a:t>Punto Crítico:</a:t>
              </a:r>
              <a:r>
                <a:rPr b="0" i="0" lang="es-419" sz="825" u="none" cap="none" strike="noStrike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 La mayoría de los sistemas SaaS tradicionales comparten estructuras de datos vulnerables a filtraciones.</a:t>
              </a:r>
              <a:endParaRPr b="0" i="0" sz="825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s-419" sz="825" u="none" cap="none" strike="noStrike">
                  <a:solidFill>
                    <a:srgbClr val="EF4444"/>
                  </a:solidFill>
                  <a:latin typeface="Roboto"/>
                  <a:ea typeface="Roboto"/>
                  <a:cs typeface="Roboto"/>
                  <a:sym typeface="Roboto"/>
                </a:rPr>
                <a:t>Impacto:</a:t>
              </a:r>
              <a:r>
                <a:rPr b="0" i="0" lang="es-419" sz="825" u="none" cap="none" strike="noStrike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 Exposición no autorizada de Fichas Clínicas y falta de cumplimiento con normativas de protección de datos sensibles.</a:t>
              </a:r>
              <a:endParaRPr b="0" i="0" sz="825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5" name="Google Shape;95;p3"/>
          <p:cNvGrpSpPr/>
          <p:nvPr/>
        </p:nvGrpSpPr>
        <p:grpSpPr>
          <a:xfrm>
            <a:off x="3333750" y="2047875"/>
            <a:ext cx="2476500" cy="2286000"/>
            <a:chOff x="3333750" y="2047875"/>
            <a:chExt cx="2476500" cy="2286000"/>
          </a:xfrm>
        </p:grpSpPr>
        <p:sp>
          <p:nvSpPr>
            <p:cNvPr id="96" name="Google Shape;96;p3"/>
            <p:cNvSpPr/>
            <p:nvPr/>
          </p:nvSpPr>
          <p:spPr>
            <a:xfrm>
              <a:off x="3333750" y="2047875"/>
              <a:ext cx="2476500" cy="2286000"/>
            </a:xfrm>
            <a:prstGeom prst="roundRect">
              <a:avLst>
                <a:gd fmla="val 5000" name="adj"/>
              </a:avLst>
            </a:prstGeom>
            <a:solidFill>
              <a:srgbClr val="18181B">
                <a:alpha val="70196"/>
              </a:srgbClr>
            </a:solidFill>
            <a:ln cap="flat" cmpd="sng" w="9525">
              <a:solidFill>
                <a:srgbClr val="2727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3"/>
            <p:cNvSpPr txBox="1"/>
            <p:nvPr/>
          </p:nvSpPr>
          <p:spPr>
            <a:xfrm>
              <a:off x="3524250" y="2238375"/>
              <a:ext cx="20955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-419" sz="1600" u="none" cap="none" strike="noStrike">
                  <a:solidFill>
                    <a:srgbClr val="2DD4B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02</a:t>
              </a:r>
              <a:endParaRPr b="0" i="0" sz="1600" u="none" cap="none" strike="noStrike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s-419" sz="1100" u="none" cap="none" strike="noStrike">
                  <a:solidFill>
                    <a:srgbClr val="F1F5F9"/>
                  </a:solidFill>
                  <a:latin typeface="Roboto"/>
                  <a:ea typeface="Roboto"/>
                  <a:cs typeface="Roboto"/>
                  <a:sym typeface="Roboto"/>
                </a:rPr>
                <a:t>Alta Fricción Operativa y Gestión Manual</a:t>
              </a:r>
              <a:endParaRPr b="1" i="0" sz="1100" u="none" cap="none" strike="noStrike">
                <a:solidFill>
                  <a:srgbClr val="F1F5F9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s-419" sz="825" u="none" cap="none" strike="noStrike">
                  <a:solidFill>
                    <a:srgbClr val="2DD4BF"/>
                  </a:solidFill>
                  <a:latin typeface="Roboto"/>
                  <a:ea typeface="Roboto"/>
                  <a:cs typeface="Roboto"/>
                  <a:sym typeface="Roboto"/>
                </a:rPr>
                <a:t>Punto Crítico:</a:t>
              </a:r>
              <a:r>
                <a:rPr b="0" i="0" lang="es-419" sz="825" u="none" cap="none" strike="noStrike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 Agendamiento, seguimiento de pacientes y emisión de comprobantes realizados de forma manual.</a:t>
              </a:r>
              <a:endParaRPr b="0" i="0" sz="825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s-419" sz="825" u="none" cap="none" strike="noStrike">
                  <a:solidFill>
                    <a:srgbClr val="EF4444"/>
                  </a:solidFill>
                  <a:latin typeface="Roboto"/>
                  <a:ea typeface="Roboto"/>
                  <a:cs typeface="Roboto"/>
                  <a:sym typeface="Roboto"/>
                </a:rPr>
                <a:t>Impacto:</a:t>
              </a:r>
              <a:r>
                <a:rPr b="0" i="0" lang="es-419" sz="825" u="none" cap="none" strike="noStrike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 Pérdida de horas operativas, inasistencias sin confirmar y errores en el registro administrativo.</a:t>
              </a:r>
              <a:endParaRPr b="0" i="0" sz="825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8" name="Google Shape;98;p3"/>
          <p:cNvGrpSpPr/>
          <p:nvPr/>
        </p:nvGrpSpPr>
        <p:grpSpPr>
          <a:xfrm>
            <a:off x="6096000" y="2047875"/>
            <a:ext cx="2476500" cy="2286000"/>
            <a:chOff x="6096000" y="2047875"/>
            <a:chExt cx="2476500" cy="2286000"/>
          </a:xfrm>
        </p:grpSpPr>
        <p:sp>
          <p:nvSpPr>
            <p:cNvPr id="99" name="Google Shape;99;p3"/>
            <p:cNvSpPr/>
            <p:nvPr/>
          </p:nvSpPr>
          <p:spPr>
            <a:xfrm>
              <a:off x="6096000" y="2047875"/>
              <a:ext cx="2476500" cy="2286000"/>
            </a:xfrm>
            <a:prstGeom prst="roundRect">
              <a:avLst>
                <a:gd fmla="val 5000" name="adj"/>
              </a:avLst>
            </a:prstGeom>
            <a:solidFill>
              <a:srgbClr val="18181B">
                <a:alpha val="70196"/>
              </a:srgbClr>
            </a:solidFill>
            <a:ln cap="flat" cmpd="sng" w="9525">
              <a:solidFill>
                <a:srgbClr val="2727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3"/>
            <p:cNvSpPr txBox="1"/>
            <p:nvPr/>
          </p:nvSpPr>
          <p:spPr>
            <a:xfrm>
              <a:off x="6286500" y="2238375"/>
              <a:ext cx="20955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-419" sz="1600" u="none" cap="none" strike="noStrike">
                  <a:solidFill>
                    <a:srgbClr val="2DD4B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03</a:t>
              </a:r>
              <a:endParaRPr b="0" i="0" sz="1600" u="none" cap="none" strike="noStrike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s-419" sz="1100" u="none" cap="none" strike="noStrike">
                  <a:solidFill>
                    <a:srgbClr val="F1F5F9"/>
                  </a:solidFill>
                  <a:latin typeface="Roboto"/>
                  <a:ea typeface="Roboto"/>
                  <a:cs typeface="Roboto"/>
                  <a:sym typeface="Roboto"/>
                </a:rPr>
                <a:t>Inseguridad en Credenciales y Falta de Auditoría</a:t>
              </a:r>
              <a:endParaRPr b="1" i="0" sz="1100" u="none" cap="none" strike="noStrike">
                <a:solidFill>
                  <a:srgbClr val="F1F5F9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s-419" sz="825" u="none" cap="none" strike="noStrike">
                  <a:solidFill>
                    <a:srgbClr val="2DD4BF"/>
                  </a:solidFill>
                  <a:latin typeface="Roboto"/>
                  <a:ea typeface="Roboto"/>
                  <a:cs typeface="Roboto"/>
                  <a:sym typeface="Roboto"/>
                </a:rPr>
                <a:t>Punto Crítico:</a:t>
              </a:r>
              <a:r>
                <a:rPr b="0" i="0" lang="es-419" sz="825" u="none" cap="none" strike="noStrike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 Ausencia de trazabilidad inmutable y mecanismos débiles de revocación de acceso.</a:t>
              </a:r>
              <a:endParaRPr b="0" i="0" sz="825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s-419" sz="825" u="none" cap="none" strike="noStrike">
                  <a:solidFill>
                    <a:srgbClr val="EF4444"/>
                  </a:solidFill>
                  <a:latin typeface="Roboto"/>
                  <a:ea typeface="Roboto"/>
                  <a:cs typeface="Roboto"/>
                  <a:sym typeface="Roboto"/>
                </a:rPr>
                <a:t>Impacto:</a:t>
              </a:r>
              <a:r>
                <a:rPr b="0" i="0" lang="es-419" sz="825" u="none" cap="none" strike="noStrike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 Imposibilidad de auditar alteraciones en registros médicos y vulnerabilidad ante dispositivos extraviados o comprometidos.</a:t>
              </a:r>
              <a:endParaRPr b="0" i="0" sz="825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01" name="Google Shape;101;p3"/>
          <p:cNvSpPr txBox="1"/>
          <p:nvPr/>
        </p:nvSpPr>
        <p:spPr>
          <a:xfrm>
            <a:off x="571500" y="4572000"/>
            <a:ext cx="8001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94A3B8"/>
                </a:solidFill>
                <a:latin typeface="Roboto Medium"/>
                <a:ea typeface="Roboto Medium"/>
                <a:cs typeface="Roboto Medium"/>
                <a:sym typeface="Roboto Medium"/>
              </a:rPr>
              <a:t>Los profesionales independientes necesitan una solución que automatice su gestión sin comprometer la seguridad ni la confidencialidad.</a:t>
            </a:r>
            <a:endParaRPr b="0" i="0" sz="1000" u="none" cap="none" strike="noStrike">
              <a:solidFill>
                <a:srgbClr val="94A3B8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0" y="-2381250"/>
            <a:ext cx="4286400" cy="64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381000"/>
            <a:ext cx="476400" cy="4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4"/>
          <p:cNvSpPr txBox="1"/>
          <p:nvPr/>
        </p:nvSpPr>
        <p:spPr>
          <a:xfrm>
            <a:off x="571500" y="619125"/>
            <a:ext cx="8001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2DD4B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Nuestra Propuesta</a:t>
            </a:r>
            <a:endParaRPr b="0" i="0" sz="1000" u="none" cap="none" strike="noStrike">
              <a:solidFill>
                <a:srgbClr val="2DD4BF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-419" sz="2700" u="none" cap="none" strike="noStrike">
                <a:solidFill>
                  <a:srgbClr val="F8FAF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La Solución: KlinyShield</a:t>
            </a:r>
            <a:endParaRPr b="0" i="0" sz="1000" u="none" cap="none" strike="noStrike">
              <a:solidFill>
                <a:srgbClr val="2DD4BF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419" sz="11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Una plataforma SaaS multi-tenant diseñada para automatizar la gestión médica con aislamiento total de datos y máxima ciberseguridad.</a:t>
            </a:r>
            <a:endParaRPr b="0" i="0" sz="1000" u="none" cap="none" strike="noStrike">
              <a:solidFill>
                <a:srgbClr val="2DD4BF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grpSp>
        <p:nvGrpSpPr>
          <p:cNvPr id="110" name="Google Shape;110;p4"/>
          <p:cNvGrpSpPr/>
          <p:nvPr/>
        </p:nvGrpSpPr>
        <p:grpSpPr>
          <a:xfrm>
            <a:off x="571500" y="2047875"/>
            <a:ext cx="2476500" cy="2286000"/>
            <a:chOff x="571500" y="2047875"/>
            <a:chExt cx="2476500" cy="2286000"/>
          </a:xfrm>
        </p:grpSpPr>
        <p:sp>
          <p:nvSpPr>
            <p:cNvPr id="111" name="Google Shape;111;p4"/>
            <p:cNvSpPr/>
            <p:nvPr/>
          </p:nvSpPr>
          <p:spPr>
            <a:xfrm>
              <a:off x="571500" y="2047875"/>
              <a:ext cx="2476500" cy="2286000"/>
            </a:xfrm>
            <a:prstGeom prst="roundRect">
              <a:avLst>
                <a:gd fmla="val 5000" name="adj"/>
              </a:avLst>
            </a:prstGeom>
            <a:solidFill>
              <a:srgbClr val="18181B">
                <a:alpha val="70196"/>
              </a:srgbClr>
            </a:solidFill>
            <a:ln cap="flat" cmpd="sng" w="9525">
              <a:solidFill>
                <a:srgbClr val="2727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4"/>
            <p:cNvSpPr txBox="1"/>
            <p:nvPr/>
          </p:nvSpPr>
          <p:spPr>
            <a:xfrm>
              <a:off x="762000" y="2238375"/>
              <a:ext cx="20955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-419" sz="1600" u="none" cap="none" strike="noStrike">
                  <a:solidFill>
                    <a:srgbClr val="2DD4B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01</a:t>
              </a:r>
              <a:endParaRPr b="0" i="0" sz="1600" u="none" cap="none" strike="noStrike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s-419" sz="1100" u="none" cap="none" strike="noStrike">
                  <a:solidFill>
                    <a:srgbClr val="F1F5F9"/>
                  </a:solidFill>
                  <a:latin typeface="Roboto"/>
                  <a:ea typeface="Roboto"/>
                  <a:cs typeface="Roboto"/>
                  <a:sym typeface="Roboto"/>
                </a:rPr>
                <a:t>Aislamiento Multi-Tenant &amp; RLS</a:t>
              </a:r>
              <a:endParaRPr b="0" i="0" sz="1100" u="none" cap="none" strike="noStrike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s-419" sz="825" u="none" cap="none" strike="noStrike">
                  <a:solidFill>
                    <a:srgbClr val="2DD4BF"/>
                  </a:solidFill>
                  <a:latin typeface="Roboto"/>
                  <a:ea typeface="Roboto"/>
                  <a:cs typeface="Roboto"/>
                  <a:sym typeface="Roboto"/>
                </a:rPr>
                <a:t>Solución:</a:t>
              </a:r>
              <a:r>
                <a:rPr b="0" i="0" lang="es-419" sz="825" u="none" cap="none" strike="noStrike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 Políticas de RLS en PostgreSQL/Supabase donde cada profesional es dueño de sus datos.</a:t>
              </a:r>
              <a:endParaRPr b="0" i="0" sz="825" u="none" cap="none" strike="noStrike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s-419" sz="825" u="none" cap="none" strike="noStrike">
                  <a:solidFill>
                    <a:srgbClr val="38BDF8"/>
                  </a:solidFill>
                  <a:latin typeface="Roboto"/>
                  <a:ea typeface="Roboto"/>
                  <a:cs typeface="Roboto"/>
                  <a:sym typeface="Roboto"/>
                </a:rPr>
                <a:t>Beneficio:</a:t>
              </a:r>
              <a:r>
                <a:rPr b="0" i="0" lang="es-419" sz="825" u="none" cap="none" strike="noStrike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 Confidencialidad absoluta, TDE en reposo y aislamiento nativo por professional_id.</a:t>
              </a:r>
              <a:endParaRPr b="0" i="0" sz="825" u="none" cap="none" strike="noStrike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</p:txBody>
        </p:sp>
      </p:grpSp>
      <p:grpSp>
        <p:nvGrpSpPr>
          <p:cNvPr id="113" name="Google Shape;113;p4"/>
          <p:cNvGrpSpPr/>
          <p:nvPr/>
        </p:nvGrpSpPr>
        <p:grpSpPr>
          <a:xfrm>
            <a:off x="3333750" y="2047875"/>
            <a:ext cx="2476500" cy="2286000"/>
            <a:chOff x="3333750" y="2047875"/>
            <a:chExt cx="2476500" cy="2286000"/>
          </a:xfrm>
        </p:grpSpPr>
        <p:sp>
          <p:nvSpPr>
            <p:cNvPr id="114" name="Google Shape;114;p4"/>
            <p:cNvSpPr/>
            <p:nvPr/>
          </p:nvSpPr>
          <p:spPr>
            <a:xfrm>
              <a:off x="3333750" y="2047875"/>
              <a:ext cx="2476500" cy="2286000"/>
            </a:xfrm>
            <a:prstGeom prst="roundRect">
              <a:avLst>
                <a:gd fmla="val 5000" name="adj"/>
              </a:avLst>
            </a:prstGeom>
            <a:solidFill>
              <a:srgbClr val="18181B">
                <a:alpha val="70196"/>
              </a:srgbClr>
            </a:solidFill>
            <a:ln cap="flat" cmpd="sng" w="9525">
              <a:solidFill>
                <a:srgbClr val="2727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4"/>
            <p:cNvSpPr txBox="1"/>
            <p:nvPr/>
          </p:nvSpPr>
          <p:spPr>
            <a:xfrm>
              <a:off x="3524250" y="2238375"/>
              <a:ext cx="20955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-419" sz="1600" u="none" cap="none" strike="noStrike">
                  <a:solidFill>
                    <a:srgbClr val="2DD4B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02</a:t>
              </a:r>
              <a:endParaRPr b="0" i="0" sz="1600" u="none" cap="none" strike="noStrike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s-419" sz="1100" u="none" cap="none" strike="noStrike">
                  <a:solidFill>
                    <a:srgbClr val="F1F5F9"/>
                  </a:solidFill>
                  <a:latin typeface="Roboto"/>
                  <a:ea typeface="Roboto"/>
                  <a:cs typeface="Roboto"/>
                  <a:sym typeface="Roboto"/>
                </a:rPr>
                <a:t>Automatización &amp; Zero-Friction</a:t>
              </a:r>
              <a:endParaRPr b="0" i="0" sz="1100" u="none" cap="none" strike="noStrike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s-419" sz="825" u="none" cap="none" strike="noStrike">
                  <a:solidFill>
                    <a:srgbClr val="2DD4BF"/>
                  </a:solidFill>
                  <a:latin typeface="Roboto"/>
                  <a:ea typeface="Roboto"/>
                  <a:cs typeface="Roboto"/>
                  <a:sym typeface="Roboto"/>
                </a:rPr>
                <a:t>Solución:</a:t>
              </a:r>
              <a:r>
                <a:rPr b="0" i="0" lang="es-419" sz="825" u="none" cap="none" strike="noStrike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 Orquestador de avisos (WhatsApp/Email) y envío de comprobantes mediante GCS.</a:t>
              </a:r>
              <a:endParaRPr b="0" i="0" sz="825" u="none" cap="none" strike="noStrike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s-419" sz="825" u="none" cap="none" strike="noStrike">
                  <a:solidFill>
                    <a:srgbClr val="38BDF8"/>
                  </a:solidFill>
                  <a:latin typeface="Roboto"/>
                  <a:ea typeface="Roboto"/>
                  <a:cs typeface="Roboto"/>
                  <a:sym typeface="Roboto"/>
                </a:rPr>
                <a:t>Beneficio:</a:t>
              </a:r>
              <a:r>
                <a:rPr b="0" i="0" lang="es-419" sz="825" u="none" cap="none" strike="noStrike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 Elimina carga manual, reduce ausentismo y agiliza entrega de boletas.</a:t>
              </a:r>
              <a:endParaRPr b="0" i="0" sz="825" u="none" cap="none" strike="noStrike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</p:txBody>
        </p:sp>
      </p:grpSp>
      <p:grpSp>
        <p:nvGrpSpPr>
          <p:cNvPr id="116" name="Google Shape;116;p4"/>
          <p:cNvGrpSpPr/>
          <p:nvPr/>
        </p:nvGrpSpPr>
        <p:grpSpPr>
          <a:xfrm>
            <a:off x="6096000" y="2047875"/>
            <a:ext cx="2476500" cy="2286000"/>
            <a:chOff x="6096000" y="2047875"/>
            <a:chExt cx="2476500" cy="2286000"/>
          </a:xfrm>
        </p:grpSpPr>
        <p:sp>
          <p:nvSpPr>
            <p:cNvPr id="117" name="Google Shape;117;p4"/>
            <p:cNvSpPr/>
            <p:nvPr/>
          </p:nvSpPr>
          <p:spPr>
            <a:xfrm>
              <a:off x="6096000" y="2047875"/>
              <a:ext cx="2476500" cy="2286000"/>
            </a:xfrm>
            <a:prstGeom prst="roundRect">
              <a:avLst>
                <a:gd fmla="val 5000" name="adj"/>
              </a:avLst>
            </a:prstGeom>
            <a:solidFill>
              <a:srgbClr val="18181B">
                <a:alpha val="70196"/>
              </a:srgbClr>
            </a:solidFill>
            <a:ln cap="flat" cmpd="sng" w="9525">
              <a:solidFill>
                <a:srgbClr val="2727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4"/>
            <p:cNvSpPr txBox="1"/>
            <p:nvPr/>
          </p:nvSpPr>
          <p:spPr>
            <a:xfrm>
              <a:off x="6286500" y="2238375"/>
              <a:ext cx="20955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-419" sz="1600" u="none" cap="none" strike="noStrike">
                  <a:solidFill>
                    <a:srgbClr val="2DD4B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03</a:t>
              </a:r>
              <a:endParaRPr b="0" i="0" sz="1600" u="none" cap="none" strike="noStrike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s-419" sz="1100" u="none" cap="none" strike="noStrike">
                  <a:solidFill>
                    <a:srgbClr val="F1F5F9"/>
                  </a:solidFill>
                  <a:latin typeface="Roboto"/>
                  <a:ea typeface="Roboto"/>
                  <a:cs typeface="Roboto"/>
                  <a:sym typeface="Roboto"/>
                </a:rPr>
                <a:t>Auditoría &amp; Seguridad Efímera</a:t>
              </a:r>
              <a:endParaRPr b="0" i="0" sz="1100" u="none" cap="none" strike="noStrike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s-419" sz="825" u="none" cap="none" strike="noStrike">
                  <a:solidFill>
                    <a:srgbClr val="2DD4BF"/>
                  </a:solidFill>
                  <a:latin typeface="Roboto"/>
                  <a:ea typeface="Roboto"/>
                  <a:cs typeface="Roboto"/>
                  <a:sym typeface="Roboto"/>
                </a:rPr>
                <a:t>Solución:</a:t>
              </a:r>
              <a:r>
                <a:rPr b="0" i="0" lang="es-419" sz="825" u="none" cap="none" strike="noStrike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 Trazabilidad inalterable (Append-Only) y Magic Links con revocación de tokens.</a:t>
              </a:r>
              <a:endParaRPr b="0" i="0" sz="825" u="none" cap="none" strike="noStrike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s-419" sz="825" u="none" cap="none" strike="noStrike">
                  <a:solidFill>
                    <a:srgbClr val="38BDF8"/>
                  </a:solidFill>
                  <a:latin typeface="Roboto"/>
                  <a:ea typeface="Roboto"/>
                  <a:cs typeface="Roboto"/>
                  <a:sym typeface="Roboto"/>
                </a:rPr>
                <a:t>Beneficio:</a:t>
              </a:r>
              <a:r>
                <a:rPr b="0" i="0" lang="es-419" sz="825" u="none" cap="none" strike="noStrike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 Cumplimiento legal, auditoría sin alteraciones y control total de sesiones activas.</a:t>
              </a:r>
              <a:endParaRPr b="0" i="0" sz="825" u="none" cap="none" strike="noStrike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</p:txBody>
        </p:sp>
      </p:grpSp>
      <p:sp>
        <p:nvSpPr>
          <p:cNvPr id="119" name="Google Shape;119;p4"/>
          <p:cNvSpPr txBox="1"/>
          <p:nvPr/>
        </p:nvSpPr>
        <p:spPr>
          <a:xfrm>
            <a:off x="571500" y="4572000"/>
            <a:ext cx="8001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94A3B8"/>
                </a:solidFill>
                <a:latin typeface="Roboto Medium"/>
                <a:ea typeface="Roboto Medium"/>
                <a:cs typeface="Roboto Medium"/>
                <a:sym typeface="Roboto Medium"/>
              </a:rPr>
              <a:t>KlinyShield transforma la práctica médica independiente combinando automatización inteligente con estándares de ciberseguridad bancaria.</a:t>
            </a:r>
            <a:endParaRPr b="0" i="0" sz="1000" u="none" cap="none" strike="noStrike">
              <a:solidFill>
                <a:srgbClr val="94A3B8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0" y="-2381250"/>
            <a:ext cx="4286400" cy="64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381000"/>
            <a:ext cx="476400" cy="4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5"/>
          <p:cNvSpPr txBox="1"/>
          <p:nvPr/>
        </p:nvSpPr>
        <p:spPr>
          <a:xfrm>
            <a:off x="571500" y="619125"/>
            <a:ext cx="8001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2DD4B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Desarrollo e Impacto</a:t>
            </a:r>
            <a:endParaRPr b="0" i="0" sz="1000" u="none" cap="none" strike="noStrike">
              <a:solidFill>
                <a:srgbClr val="2DD4BF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-419" sz="2700" u="none" cap="none" strike="noStrike">
                <a:solidFill>
                  <a:srgbClr val="F8FAF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Historias de Usuario Clave</a:t>
            </a:r>
            <a:endParaRPr b="0" i="0" sz="1000" u="none" cap="none" strike="noStrike">
              <a:solidFill>
                <a:srgbClr val="2DD4BF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419" sz="11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Los tres requerimientos funcionales y de seguridad más importantes del sistema KlinyShield.</a:t>
            </a:r>
            <a:endParaRPr b="0" i="0" sz="1000" u="none" cap="none" strike="noStrike">
              <a:solidFill>
                <a:srgbClr val="2DD4BF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grpSp>
        <p:nvGrpSpPr>
          <p:cNvPr id="128" name="Google Shape;128;p5"/>
          <p:cNvGrpSpPr/>
          <p:nvPr/>
        </p:nvGrpSpPr>
        <p:grpSpPr>
          <a:xfrm>
            <a:off x="571500" y="2047875"/>
            <a:ext cx="2476500" cy="2286000"/>
            <a:chOff x="571500" y="2047875"/>
            <a:chExt cx="2476500" cy="2286000"/>
          </a:xfrm>
        </p:grpSpPr>
        <p:sp>
          <p:nvSpPr>
            <p:cNvPr id="129" name="Google Shape;129;p5"/>
            <p:cNvSpPr/>
            <p:nvPr/>
          </p:nvSpPr>
          <p:spPr>
            <a:xfrm>
              <a:off x="571500" y="2047875"/>
              <a:ext cx="2476500" cy="2286000"/>
            </a:xfrm>
            <a:prstGeom prst="roundRect">
              <a:avLst>
                <a:gd fmla="val 5000" name="adj"/>
              </a:avLst>
            </a:prstGeom>
            <a:solidFill>
              <a:srgbClr val="18181B">
                <a:alpha val="70196"/>
              </a:srgbClr>
            </a:solidFill>
            <a:ln cap="flat" cmpd="sng" w="9525">
              <a:solidFill>
                <a:srgbClr val="2727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5"/>
            <p:cNvSpPr txBox="1"/>
            <p:nvPr/>
          </p:nvSpPr>
          <p:spPr>
            <a:xfrm>
              <a:off x="762000" y="2238375"/>
              <a:ext cx="20955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-419" sz="1600" u="none" cap="none" strike="noStrike">
                  <a:solidFill>
                    <a:srgbClr val="2DD4B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01</a:t>
              </a:r>
              <a:endParaRPr b="0" i="0" sz="1600" u="none" cap="none" strike="noStrike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s-419" sz="1100" u="none" cap="none" strike="noStrike">
                  <a:solidFill>
                    <a:srgbClr val="F1F5F9"/>
                  </a:solidFill>
                  <a:latin typeface="Roboto"/>
                  <a:ea typeface="Roboto"/>
                  <a:cs typeface="Roboto"/>
                  <a:sym typeface="Roboto"/>
                </a:rPr>
                <a:t>Aislamiento Estricto de Datos</a:t>
              </a:r>
              <a:endParaRPr b="0" i="0" sz="1100" u="none" cap="none" strike="noStrike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s-419" sz="825" u="none" cap="none" strike="noStrike">
                  <a:solidFill>
                    <a:srgbClr val="2DD4BF"/>
                  </a:solidFill>
                  <a:latin typeface="Roboto"/>
                  <a:ea typeface="Roboto"/>
                  <a:cs typeface="Roboto"/>
                  <a:sym typeface="Roboto"/>
                </a:rPr>
                <a:t>Como:</a:t>
              </a:r>
              <a:r>
                <a:rPr b="0" i="0" lang="es-419" sz="825" u="none" cap="none" strike="noStrike">
                  <a:solidFill>
                    <a:srgbClr val="2DD4B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 </a:t>
              </a:r>
              <a:r>
                <a:rPr b="0" i="0" lang="es-419" sz="825" u="none" cap="none" strike="noStrike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Administrador de Seguridad.</a:t>
              </a:r>
              <a:endParaRPr b="0" i="0" sz="825" u="none" cap="none" strike="noStrike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s-419" sz="825" u="none" cap="none" strike="noStrike">
                  <a:solidFill>
                    <a:srgbClr val="2DD4BF"/>
                  </a:solidFill>
                  <a:latin typeface="Roboto"/>
                  <a:ea typeface="Roboto"/>
                  <a:cs typeface="Roboto"/>
                  <a:sym typeface="Roboto"/>
                </a:rPr>
                <a:t>Necesito:</a:t>
              </a:r>
              <a:r>
                <a:rPr b="0" i="0" lang="es-419" sz="825" u="none" cap="none" strike="noStrike">
                  <a:solidFill>
                    <a:srgbClr val="2DD4B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 </a:t>
              </a:r>
              <a:r>
                <a:rPr b="0" i="0" lang="es-419" sz="825" u="none" cap="none" strike="noStrike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Aplicar políticas de RLS filtradas por professional_id en la base de datos.</a:t>
              </a:r>
              <a:endParaRPr b="0" i="0" sz="825" u="none" cap="none" strike="noStrike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s-419" sz="825" u="none" cap="none" strike="noStrike">
                  <a:solidFill>
                    <a:srgbClr val="38BDF8"/>
                  </a:solidFill>
                  <a:latin typeface="Roboto"/>
                  <a:ea typeface="Roboto"/>
                  <a:cs typeface="Roboto"/>
                  <a:sym typeface="Roboto"/>
                </a:rPr>
                <a:t>Para:</a:t>
              </a:r>
              <a:r>
                <a:rPr b="0" i="0" lang="es-419" sz="825" u="none" cap="none" strike="noStrike">
                  <a:solidFill>
                    <a:srgbClr val="2DD4B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 </a:t>
              </a:r>
              <a:r>
                <a:rPr b="0" i="0" lang="es-419" sz="825" u="none" cap="none" strike="noStrike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Garantizar que ningún profesional pueda acceder a datos de otros tenants.</a:t>
              </a:r>
              <a:endParaRPr b="0" i="0" sz="825" u="none" cap="none" strike="noStrike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</p:txBody>
        </p:sp>
      </p:grpSp>
      <p:grpSp>
        <p:nvGrpSpPr>
          <p:cNvPr id="131" name="Google Shape;131;p5"/>
          <p:cNvGrpSpPr/>
          <p:nvPr/>
        </p:nvGrpSpPr>
        <p:grpSpPr>
          <a:xfrm>
            <a:off x="3333750" y="2047875"/>
            <a:ext cx="2476500" cy="2286000"/>
            <a:chOff x="3333750" y="2047875"/>
            <a:chExt cx="2476500" cy="2286000"/>
          </a:xfrm>
        </p:grpSpPr>
        <p:sp>
          <p:nvSpPr>
            <p:cNvPr id="132" name="Google Shape;132;p5"/>
            <p:cNvSpPr/>
            <p:nvPr/>
          </p:nvSpPr>
          <p:spPr>
            <a:xfrm>
              <a:off x="3333750" y="2047875"/>
              <a:ext cx="2476500" cy="2286000"/>
            </a:xfrm>
            <a:prstGeom prst="roundRect">
              <a:avLst>
                <a:gd fmla="val 5000" name="adj"/>
              </a:avLst>
            </a:prstGeom>
            <a:solidFill>
              <a:srgbClr val="18181B">
                <a:alpha val="70196"/>
              </a:srgbClr>
            </a:solidFill>
            <a:ln cap="flat" cmpd="sng" w="9525">
              <a:solidFill>
                <a:srgbClr val="2727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5"/>
            <p:cNvSpPr txBox="1"/>
            <p:nvPr/>
          </p:nvSpPr>
          <p:spPr>
            <a:xfrm>
              <a:off x="3524250" y="2238375"/>
              <a:ext cx="20955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-419" sz="1600" u="none" cap="none" strike="noStrike">
                  <a:solidFill>
                    <a:srgbClr val="2DD4B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02</a:t>
              </a:r>
              <a:endParaRPr b="0" i="0" sz="1600" u="none" cap="none" strike="noStrike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s-419" sz="1100" u="none" cap="none" strike="noStrike">
                  <a:solidFill>
                    <a:srgbClr val="F1F5F9"/>
                  </a:solidFill>
                  <a:latin typeface="Roboto"/>
                  <a:ea typeface="Roboto"/>
                  <a:cs typeface="Roboto"/>
                  <a:sym typeface="Roboto"/>
                </a:rPr>
                <a:t>Auditoría Inmutable</a:t>
              </a:r>
              <a:endParaRPr b="0" i="0" sz="1100" u="none" cap="none" strike="noStrike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s-419" sz="825" u="none" cap="none" strike="noStrike">
                  <a:solidFill>
                    <a:srgbClr val="2DD4BF"/>
                  </a:solidFill>
                  <a:latin typeface="Roboto"/>
                  <a:ea typeface="Roboto"/>
                  <a:cs typeface="Roboto"/>
                  <a:sym typeface="Roboto"/>
                </a:rPr>
                <a:t>Como:</a:t>
              </a:r>
              <a:r>
                <a:rPr b="0" i="0" lang="es-419" sz="825" u="none" cap="none" strike="noStrike">
                  <a:solidFill>
                    <a:srgbClr val="2DD4B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 </a:t>
              </a:r>
              <a:r>
                <a:rPr b="0" i="0" lang="es-419" sz="825" u="none" cap="none" strike="noStrike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Oficial de Cumplimiento Legal.</a:t>
              </a:r>
              <a:endParaRPr b="0" i="0" sz="825" u="none" cap="none" strike="noStrike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s-419" sz="825" u="none" cap="none" strike="noStrike">
                  <a:solidFill>
                    <a:srgbClr val="2DD4BF"/>
                  </a:solidFill>
                  <a:latin typeface="Roboto"/>
                  <a:ea typeface="Roboto"/>
                  <a:cs typeface="Roboto"/>
                  <a:sym typeface="Roboto"/>
                </a:rPr>
                <a:t>Necesito:</a:t>
              </a:r>
              <a:r>
                <a:rPr b="0" i="0" lang="es-419" sz="825" u="none" cap="none" strike="noStrike">
                  <a:solidFill>
                    <a:srgbClr val="2DD4B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 </a:t>
              </a:r>
              <a:r>
                <a:rPr b="0" i="0" lang="es-419" sz="825" u="none" cap="none" strike="noStrike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Registrar accesos y cambios en la ficha clínica en un log Append-Only.</a:t>
              </a:r>
              <a:endParaRPr b="0" i="0" sz="825" u="none" cap="none" strike="noStrike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s-419" sz="825" u="none" cap="none" strike="noStrike">
                  <a:solidFill>
                    <a:srgbClr val="38BDF8"/>
                  </a:solidFill>
                  <a:latin typeface="Roboto"/>
                  <a:ea typeface="Roboto"/>
                  <a:cs typeface="Roboto"/>
                  <a:sym typeface="Roboto"/>
                </a:rPr>
                <a:t>Para:</a:t>
              </a:r>
              <a:r>
                <a:rPr b="0" i="0" lang="es-419" sz="825" u="none" cap="none" strike="noStrike">
                  <a:solidFill>
                    <a:srgbClr val="2DD4B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 </a:t>
              </a:r>
              <a:r>
                <a:rPr b="0" i="0" lang="es-419" sz="825" u="none" cap="none" strike="noStrike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Mantener una trazabilidad inalterable como evidencia para auditorías.</a:t>
              </a:r>
              <a:endParaRPr b="0" i="0" sz="825" u="none" cap="none" strike="noStrike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</p:txBody>
        </p:sp>
      </p:grpSp>
      <p:grpSp>
        <p:nvGrpSpPr>
          <p:cNvPr id="134" name="Google Shape;134;p5"/>
          <p:cNvGrpSpPr/>
          <p:nvPr/>
        </p:nvGrpSpPr>
        <p:grpSpPr>
          <a:xfrm>
            <a:off x="6096000" y="2047875"/>
            <a:ext cx="2476500" cy="2286000"/>
            <a:chOff x="6096000" y="2047875"/>
            <a:chExt cx="2476500" cy="2286000"/>
          </a:xfrm>
        </p:grpSpPr>
        <p:sp>
          <p:nvSpPr>
            <p:cNvPr id="135" name="Google Shape;135;p5"/>
            <p:cNvSpPr/>
            <p:nvPr/>
          </p:nvSpPr>
          <p:spPr>
            <a:xfrm>
              <a:off x="6096000" y="2047875"/>
              <a:ext cx="2476500" cy="2286000"/>
            </a:xfrm>
            <a:prstGeom prst="roundRect">
              <a:avLst>
                <a:gd fmla="val 5000" name="adj"/>
              </a:avLst>
            </a:prstGeom>
            <a:solidFill>
              <a:srgbClr val="18181B">
                <a:alpha val="70196"/>
              </a:srgbClr>
            </a:solidFill>
            <a:ln cap="flat" cmpd="sng" w="9525">
              <a:solidFill>
                <a:srgbClr val="2727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5"/>
            <p:cNvSpPr txBox="1"/>
            <p:nvPr/>
          </p:nvSpPr>
          <p:spPr>
            <a:xfrm>
              <a:off x="6286500" y="2238375"/>
              <a:ext cx="20955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-419" sz="1600" u="none" cap="none" strike="noStrike">
                  <a:solidFill>
                    <a:srgbClr val="2DD4B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03</a:t>
              </a:r>
              <a:endParaRPr b="0" i="0" sz="1600" u="none" cap="none" strike="noStrike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s-419" sz="1100" u="none" cap="none" strike="noStrike">
                  <a:solidFill>
                    <a:srgbClr val="F1F5F9"/>
                  </a:solidFill>
                  <a:latin typeface="Roboto"/>
                  <a:ea typeface="Roboto"/>
                  <a:cs typeface="Roboto"/>
                  <a:sym typeface="Roboto"/>
                </a:rPr>
                <a:t>Notificaciones Asíncronas</a:t>
              </a:r>
              <a:endParaRPr b="0" i="0" sz="1100" u="none" cap="none" strike="noStrike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s-419" sz="825" u="none" cap="none" strike="noStrike">
                  <a:solidFill>
                    <a:srgbClr val="2DD4BF"/>
                  </a:solidFill>
                  <a:latin typeface="Roboto"/>
                  <a:ea typeface="Roboto"/>
                  <a:cs typeface="Roboto"/>
                  <a:sym typeface="Roboto"/>
                </a:rPr>
                <a:t>Como:</a:t>
              </a:r>
              <a:r>
                <a:rPr b="0" i="0" lang="es-419" sz="825" u="none" cap="none" strike="noStrike">
                  <a:solidFill>
                    <a:srgbClr val="2DD4B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 </a:t>
              </a:r>
              <a:r>
                <a:rPr b="0" i="0" lang="es-419" sz="825" u="none" cap="none" strike="noStrike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Profesional de la Salud.</a:t>
              </a:r>
              <a:endParaRPr b="0" i="0" sz="825" u="none" cap="none" strike="noStrike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s-419" sz="825" u="none" cap="none" strike="noStrike">
                  <a:solidFill>
                    <a:srgbClr val="2DD4BF"/>
                  </a:solidFill>
                  <a:latin typeface="Roboto"/>
                  <a:ea typeface="Roboto"/>
                  <a:cs typeface="Roboto"/>
                  <a:sym typeface="Roboto"/>
                </a:rPr>
                <a:t>Necesito:</a:t>
              </a:r>
              <a:r>
                <a:rPr b="0" i="0" lang="es-419" sz="825" u="none" cap="none" strike="noStrike">
                  <a:solidFill>
                    <a:srgbClr val="2DD4B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 </a:t>
              </a:r>
              <a:r>
                <a:rPr b="0" i="0" lang="es-419" sz="825" u="none" cap="none" strike="noStrike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Enviar avisos de citas y boletas por WhatsApp/Email automatizado.</a:t>
              </a:r>
              <a:endParaRPr b="0" i="0" sz="825" u="none" cap="none" strike="noStrike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s-419" sz="825" u="none" cap="none" strike="noStrike">
                  <a:solidFill>
                    <a:srgbClr val="38BDF8"/>
                  </a:solidFill>
                  <a:latin typeface="Roboto"/>
                  <a:ea typeface="Roboto"/>
                  <a:cs typeface="Roboto"/>
                  <a:sym typeface="Roboto"/>
                </a:rPr>
                <a:t>Para:</a:t>
              </a:r>
              <a:r>
                <a:rPr b="0" i="0" lang="es-419" sz="825" u="none" cap="none" strike="noStrike">
                  <a:solidFill>
                    <a:srgbClr val="2DD4B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 </a:t>
              </a:r>
              <a:r>
                <a:rPr b="0" i="0" lang="es-419" sz="825" u="none" cap="none" strike="noStrike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Reducir el ausentismo y eliminar carga manual sin bloquear la interfaz.</a:t>
              </a:r>
              <a:endParaRPr b="0" i="0" sz="825" u="none" cap="none" strike="noStrike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</p:txBody>
        </p:sp>
      </p:grpSp>
      <p:sp>
        <p:nvSpPr>
          <p:cNvPr id="137" name="Google Shape;137;p5"/>
          <p:cNvSpPr txBox="1"/>
          <p:nvPr/>
        </p:nvSpPr>
        <p:spPr>
          <a:xfrm>
            <a:off x="571500" y="4572000"/>
            <a:ext cx="8001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94A3B8"/>
                </a:solidFill>
                <a:latin typeface="Roboto Medium"/>
                <a:ea typeface="Roboto Medium"/>
                <a:cs typeface="Roboto Medium"/>
                <a:sym typeface="Roboto Medium"/>
              </a:rPr>
              <a:t>Centrados en la seguridad del dato, la trazabilidad legal y la eficiencia operativa diaria del profesional.</a:t>
            </a:r>
            <a:endParaRPr b="0" i="0" sz="1000" u="none" cap="none" strike="noStrike">
              <a:solidFill>
                <a:srgbClr val="94A3B8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0" y="-2381250"/>
            <a:ext cx="4286400" cy="64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381000"/>
            <a:ext cx="476400" cy="4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6"/>
          <p:cNvSpPr txBox="1"/>
          <p:nvPr/>
        </p:nvSpPr>
        <p:spPr>
          <a:xfrm>
            <a:off x="571500" y="619125"/>
            <a:ext cx="8001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2DD4B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Plan de Trabajo</a:t>
            </a:r>
            <a:endParaRPr b="0" i="0" sz="1000" u="none" cap="none" strike="noStrike">
              <a:solidFill>
                <a:srgbClr val="2DD4BF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-419" sz="2700" u="none" cap="none" strike="noStrike">
                <a:solidFill>
                  <a:srgbClr val="F8FAF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Metodología Kanban</a:t>
            </a:r>
            <a:endParaRPr b="0" i="0" sz="1000" u="none" cap="none" strike="noStrike">
              <a:solidFill>
                <a:srgbClr val="2DD4BF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419" sz="11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Gestión ágil del desarrollo enfocada en el flujo continuo, visibilidad del estado y entrega incremental.</a:t>
            </a:r>
            <a:endParaRPr b="0" i="0" sz="1000" u="none" cap="none" strike="noStrike">
              <a:solidFill>
                <a:srgbClr val="2DD4BF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grpSp>
        <p:nvGrpSpPr>
          <p:cNvPr id="147" name="Google Shape;147;p6"/>
          <p:cNvGrpSpPr/>
          <p:nvPr/>
        </p:nvGrpSpPr>
        <p:grpSpPr>
          <a:xfrm>
            <a:off x="571500" y="2047875"/>
            <a:ext cx="2476500" cy="2286000"/>
            <a:chOff x="571500" y="2047875"/>
            <a:chExt cx="2476500" cy="2286000"/>
          </a:xfrm>
        </p:grpSpPr>
        <p:sp>
          <p:nvSpPr>
            <p:cNvPr id="148" name="Google Shape;148;p6"/>
            <p:cNvSpPr/>
            <p:nvPr/>
          </p:nvSpPr>
          <p:spPr>
            <a:xfrm>
              <a:off x="571500" y="2047875"/>
              <a:ext cx="2476500" cy="2286000"/>
            </a:xfrm>
            <a:prstGeom prst="roundRect">
              <a:avLst>
                <a:gd fmla="val 5000" name="adj"/>
              </a:avLst>
            </a:prstGeom>
            <a:solidFill>
              <a:srgbClr val="18181B">
                <a:alpha val="70196"/>
              </a:srgbClr>
            </a:solidFill>
            <a:ln cap="flat" cmpd="sng" w="9525">
              <a:solidFill>
                <a:srgbClr val="2727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6"/>
            <p:cNvSpPr txBox="1"/>
            <p:nvPr/>
          </p:nvSpPr>
          <p:spPr>
            <a:xfrm>
              <a:off x="762000" y="2238375"/>
              <a:ext cx="20955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-419" sz="1600" u="none" cap="none" strike="noStrike">
                  <a:solidFill>
                    <a:srgbClr val="2DD4B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01</a:t>
              </a:r>
              <a:endParaRPr b="0" i="0" sz="1600" u="none" cap="none" strike="noStrike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s-419" sz="1100" u="none" cap="none" strike="noStrike">
                  <a:solidFill>
                    <a:srgbClr val="F1F5F9"/>
                  </a:solidFill>
                  <a:latin typeface="Roboto"/>
                  <a:ea typeface="Roboto"/>
                  <a:cs typeface="Roboto"/>
                  <a:sym typeface="Roboto"/>
                </a:rPr>
                <a:t>Priorización &amp; Backlog Limitado</a:t>
              </a:r>
              <a:endParaRPr b="1" i="0" sz="1100" u="none" cap="none" strike="noStrike">
                <a:solidFill>
                  <a:srgbClr val="F1F5F9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s-419" sz="825" u="none" cap="none" strike="noStrike">
                  <a:solidFill>
                    <a:srgbClr val="2DD4BF"/>
                  </a:solidFill>
                  <a:latin typeface="Roboto"/>
                  <a:ea typeface="Roboto"/>
                  <a:cs typeface="Roboto"/>
                  <a:sym typeface="Roboto"/>
                </a:rPr>
                <a:t>Enfoque:</a:t>
              </a:r>
              <a:r>
                <a:rPr b="0" i="0" lang="es-419" sz="825" u="none" cap="none" strike="noStrike">
                  <a:solidFill>
                    <a:srgbClr val="2DD4B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 </a:t>
              </a:r>
              <a:r>
                <a:rPr b="0" i="0" lang="es-419" sz="825" u="none" cap="none" strike="noStrike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Límite de Trabajo en Proceso (WIP) por desarrollador para evitar cuellos de botella.</a:t>
              </a:r>
              <a:endParaRPr b="0" i="0" sz="825" u="none" cap="none" strike="noStrike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s-419" sz="825" u="none" cap="none" strike="noStrike">
                  <a:solidFill>
                    <a:srgbClr val="38BDF8"/>
                  </a:solidFill>
                  <a:latin typeface="Roboto"/>
                  <a:ea typeface="Roboto"/>
                  <a:cs typeface="Roboto"/>
                  <a:sym typeface="Roboto"/>
                </a:rPr>
                <a:t>Gestión:</a:t>
              </a:r>
              <a:r>
                <a:rPr b="0" i="0" lang="es-419" sz="825" u="none" cap="none" strike="noStrike">
                  <a:solidFill>
                    <a:srgbClr val="2DD4B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 </a:t>
              </a:r>
              <a:r>
                <a:rPr b="0" i="0" lang="es-419" sz="825" u="none" cap="none" strike="noStrike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Tareas desglosadas a partir de las Historias de Usuario (RLS, auditoría, notificaciones) clasificadas por prioridad.</a:t>
              </a:r>
              <a:endParaRPr b="0" i="0" sz="825" u="none" cap="none" strike="noStrike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</p:txBody>
        </p:sp>
      </p:grpSp>
      <p:grpSp>
        <p:nvGrpSpPr>
          <p:cNvPr id="150" name="Google Shape;150;p6"/>
          <p:cNvGrpSpPr/>
          <p:nvPr/>
        </p:nvGrpSpPr>
        <p:grpSpPr>
          <a:xfrm>
            <a:off x="3333750" y="2047875"/>
            <a:ext cx="2476500" cy="2286000"/>
            <a:chOff x="3333750" y="2047875"/>
            <a:chExt cx="2476500" cy="2286000"/>
          </a:xfrm>
        </p:grpSpPr>
        <p:sp>
          <p:nvSpPr>
            <p:cNvPr id="151" name="Google Shape;151;p6"/>
            <p:cNvSpPr/>
            <p:nvPr/>
          </p:nvSpPr>
          <p:spPr>
            <a:xfrm>
              <a:off x="3333750" y="2047875"/>
              <a:ext cx="2476500" cy="2286000"/>
            </a:xfrm>
            <a:prstGeom prst="roundRect">
              <a:avLst>
                <a:gd fmla="val 5000" name="adj"/>
              </a:avLst>
            </a:prstGeom>
            <a:solidFill>
              <a:srgbClr val="18181B">
                <a:alpha val="70196"/>
              </a:srgbClr>
            </a:solidFill>
            <a:ln cap="flat" cmpd="sng" w="9525">
              <a:solidFill>
                <a:srgbClr val="2727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6"/>
            <p:cNvSpPr txBox="1"/>
            <p:nvPr/>
          </p:nvSpPr>
          <p:spPr>
            <a:xfrm>
              <a:off x="3524250" y="2238375"/>
              <a:ext cx="20955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-419" sz="1600" u="none" cap="none" strike="noStrike">
                  <a:solidFill>
                    <a:srgbClr val="2DD4B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02</a:t>
              </a:r>
              <a:endParaRPr b="0" i="0" sz="1600" u="none" cap="none" strike="noStrike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s-419" sz="1100" u="none" cap="none" strike="noStrike">
                  <a:solidFill>
                    <a:srgbClr val="F1F5F9"/>
                  </a:solidFill>
                  <a:latin typeface="Roboto"/>
                  <a:ea typeface="Roboto"/>
                  <a:cs typeface="Roboto"/>
                  <a:sym typeface="Roboto"/>
                </a:rPr>
                <a:t>Revisión Continua &amp; CI/CD</a:t>
              </a:r>
              <a:endParaRPr b="1" i="0" sz="1100" u="none" cap="none" strike="noStrike">
                <a:solidFill>
                  <a:srgbClr val="F1F5F9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s-419" sz="825" u="none" cap="none" strike="noStrike">
                  <a:solidFill>
                    <a:srgbClr val="2DD4BF"/>
                  </a:solidFill>
                  <a:latin typeface="Roboto"/>
                  <a:ea typeface="Roboto"/>
                  <a:cs typeface="Roboto"/>
                  <a:sym typeface="Roboto"/>
                </a:rPr>
                <a:t>Enfoque:</a:t>
              </a:r>
              <a:r>
                <a:rPr b="0" i="0" lang="es-419" sz="825" u="none" cap="none" strike="noStrike">
                  <a:solidFill>
                    <a:srgbClr val="2DD4B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 </a:t>
              </a:r>
              <a:r>
                <a:rPr b="0" i="0" lang="es-419" sz="825" u="none" cap="none" strike="noStrike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Validación rigurosa de código, seguridad y pruebas de integración antes de fusionar ramas.</a:t>
              </a:r>
              <a:endParaRPr b="0" i="0" sz="825" u="none" cap="none" strike="noStrike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s-419" sz="825" u="none" cap="none" strike="noStrike">
                  <a:solidFill>
                    <a:srgbClr val="38BDF8"/>
                  </a:solidFill>
                  <a:latin typeface="Roboto"/>
                  <a:ea typeface="Roboto"/>
                  <a:cs typeface="Roboto"/>
                  <a:sym typeface="Roboto"/>
                </a:rPr>
                <a:t>Gestión:</a:t>
              </a:r>
              <a:r>
                <a:rPr b="0" i="0" lang="es-419" sz="825" u="none" cap="none" strike="noStrike">
                  <a:solidFill>
                    <a:srgbClr val="2DD4B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 </a:t>
              </a:r>
              <a:r>
                <a:rPr b="0" i="0" lang="es-419" sz="825" u="none" cap="none" strike="noStrike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Triggers de PostgreSQL y esquemas DBML validados mediante pruebas automatizadas en cada pull request.</a:t>
              </a:r>
              <a:endParaRPr b="0" i="0" sz="825" u="none" cap="none" strike="noStrike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</p:txBody>
        </p:sp>
      </p:grpSp>
      <p:grpSp>
        <p:nvGrpSpPr>
          <p:cNvPr id="153" name="Google Shape;153;p6"/>
          <p:cNvGrpSpPr/>
          <p:nvPr/>
        </p:nvGrpSpPr>
        <p:grpSpPr>
          <a:xfrm>
            <a:off x="6096000" y="2047875"/>
            <a:ext cx="2476500" cy="2286000"/>
            <a:chOff x="6096000" y="2047875"/>
            <a:chExt cx="2476500" cy="2286000"/>
          </a:xfrm>
        </p:grpSpPr>
        <p:sp>
          <p:nvSpPr>
            <p:cNvPr id="154" name="Google Shape;154;p6"/>
            <p:cNvSpPr/>
            <p:nvPr/>
          </p:nvSpPr>
          <p:spPr>
            <a:xfrm>
              <a:off x="6096000" y="2047875"/>
              <a:ext cx="2476500" cy="2286000"/>
            </a:xfrm>
            <a:prstGeom prst="roundRect">
              <a:avLst>
                <a:gd fmla="val 5000" name="adj"/>
              </a:avLst>
            </a:prstGeom>
            <a:solidFill>
              <a:srgbClr val="18181B">
                <a:alpha val="70196"/>
              </a:srgbClr>
            </a:solidFill>
            <a:ln cap="flat" cmpd="sng" w="9525">
              <a:solidFill>
                <a:srgbClr val="2727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6"/>
            <p:cNvSpPr txBox="1"/>
            <p:nvPr/>
          </p:nvSpPr>
          <p:spPr>
            <a:xfrm>
              <a:off x="6286500" y="2238375"/>
              <a:ext cx="20955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-419" sz="1600" u="none" cap="none" strike="noStrike">
                  <a:solidFill>
                    <a:srgbClr val="2DD4B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03</a:t>
              </a:r>
              <a:endParaRPr b="0" i="0" sz="1600" u="none" cap="none" strike="noStrike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s-419" sz="1100" u="none" cap="none" strike="noStrike">
                  <a:solidFill>
                    <a:srgbClr val="F1F5F9"/>
                  </a:solidFill>
                  <a:latin typeface="Roboto"/>
                  <a:ea typeface="Roboto"/>
                  <a:cs typeface="Roboto"/>
                  <a:sym typeface="Roboto"/>
                </a:rPr>
                <a:t>Despliegue Incremental</a:t>
              </a:r>
              <a:endParaRPr b="1" i="0" sz="1100" u="none" cap="none" strike="noStrike">
                <a:solidFill>
                  <a:srgbClr val="F1F5F9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s-419" sz="825" u="none" cap="none" strike="noStrike">
                  <a:solidFill>
                    <a:srgbClr val="2DD4BF"/>
                  </a:solidFill>
                  <a:latin typeface="Roboto"/>
                  <a:ea typeface="Roboto"/>
                  <a:cs typeface="Roboto"/>
                  <a:sym typeface="Roboto"/>
                </a:rPr>
                <a:t>Enfoque:</a:t>
              </a:r>
              <a:r>
                <a:rPr b="0" i="0" lang="es-419" sz="825" u="none" cap="none" strike="noStrike">
                  <a:solidFill>
                    <a:srgbClr val="2DD4B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 </a:t>
              </a:r>
              <a:r>
                <a:rPr b="0" i="0" lang="es-419" sz="825" u="none" cap="none" strike="noStrike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Entrega constante de funcionalidad operable y segura.</a:t>
              </a:r>
              <a:endParaRPr b="0" i="0" sz="825" u="none" cap="none" strike="noStrike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s-419" sz="825" u="none" cap="none" strike="noStrike">
                  <a:solidFill>
                    <a:srgbClr val="38BDF8"/>
                  </a:solidFill>
                  <a:latin typeface="Roboto"/>
                  <a:ea typeface="Roboto"/>
                  <a:cs typeface="Roboto"/>
                  <a:sym typeface="Roboto"/>
                </a:rPr>
                <a:t>Gestión:</a:t>
              </a:r>
              <a:r>
                <a:rPr b="0" i="0" lang="es-419" sz="825" u="none" cap="none" strike="noStrike">
                  <a:solidFill>
                    <a:srgbClr val="2DD4B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 </a:t>
              </a:r>
              <a:r>
                <a:rPr b="0" i="0" lang="es-419" sz="825" u="none" cap="none" strike="noStrike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Pases a producción transparentes para el usuario, garantizando inmutabilidad y retrocompatibilidad en el esquema multi-tenant.</a:t>
              </a:r>
              <a:endParaRPr b="0" i="0" sz="825" u="none" cap="none" strike="noStrike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</p:txBody>
        </p:sp>
      </p:grpSp>
      <p:sp>
        <p:nvSpPr>
          <p:cNvPr id="156" name="Google Shape;156;p6"/>
          <p:cNvSpPr txBox="1"/>
          <p:nvPr/>
        </p:nvSpPr>
        <p:spPr>
          <a:xfrm>
            <a:off x="571500" y="4572000"/>
            <a:ext cx="8001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94A3B8"/>
                </a:solidFill>
                <a:latin typeface="Roboto Medium"/>
                <a:ea typeface="Roboto Medium"/>
                <a:cs typeface="Roboto Medium"/>
                <a:sym typeface="Roboto Medium"/>
              </a:rPr>
              <a:t>Visibilidad total del estado del proyecto para optimizar tiempos de entrega y mantener estándares de ciberseguridad.</a:t>
            </a:r>
            <a:endParaRPr b="0" i="0" sz="1000" u="none" cap="none" strike="noStrike">
              <a:solidFill>
                <a:srgbClr val="94A3B8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oogle Shape;161;p7"/>
          <p:cNvGrpSpPr/>
          <p:nvPr/>
        </p:nvGrpSpPr>
        <p:grpSpPr>
          <a:xfrm>
            <a:off x="0" y="-2381250"/>
            <a:ext cx="9144150" cy="7524750"/>
            <a:chOff x="0" y="-2381250"/>
            <a:chExt cx="9144150" cy="7524750"/>
          </a:xfrm>
        </p:grpSpPr>
        <p:sp>
          <p:nvSpPr>
            <p:cNvPr id="162" name="Google Shape;162;p7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18181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3" name="Google Shape;163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4" name="Google Shape;164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857750" y="-2381250"/>
              <a:ext cx="4286400" cy="647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" name="Google Shape;165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096250" y="381000"/>
              <a:ext cx="476400" cy="47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Google Shape;166;p7"/>
            <p:cNvSpPr txBox="1"/>
            <p:nvPr/>
          </p:nvSpPr>
          <p:spPr>
            <a:xfrm>
              <a:off x="571500" y="619125"/>
              <a:ext cx="80010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s-419" sz="1000" u="none" cap="none" strike="noStrike">
                  <a:solidFill>
                    <a:srgbClr val="2DD4BF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Gobernanza y Ejecución</a:t>
              </a:r>
              <a:endParaRPr b="0" i="0" sz="1000" u="none" cap="none" strike="noStrike">
                <a:solidFill>
                  <a:srgbClr val="2DD4BF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0" i="0" lang="es-419" sz="2700" u="none" cap="none" strike="noStrike">
                  <a:solidFill>
                    <a:srgbClr val="F8FAFC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Roles del Equipo </a:t>
              </a:r>
              <a:endParaRPr b="0" i="0" sz="1000" u="none" cap="none" strike="noStrike">
                <a:solidFill>
                  <a:srgbClr val="2DD4BF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75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s-419" sz="1100" u="none" cap="none" strike="noStrike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Distribución estratégica de responsabilidades según las áreas de especialización de los ingenieros co-fundadores.</a:t>
              </a:r>
              <a:endParaRPr b="0" i="0" sz="1000" u="none" cap="none" strike="noStrike">
                <a:solidFill>
                  <a:srgbClr val="2DD4BF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  <p:grpSp>
          <p:nvGrpSpPr>
            <p:cNvPr id="167" name="Google Shape;167;p7"/>
            <p:cNvGrpSpPr/>
            <p:nvPr/>
          </p:nvGrpSpPr>
          <p:grpSpPr>
            <a:xfrm>
              <a:off x="571500" y="2047875"/>
              <a:ext cx="2476500" cy="2286000"/>
              <a:chOff x="571500" y="2047875"/>
              <a:chExt cx="2476500" cy="2286000"/>
            </a:xfrm>
          </p:grpSpPr>
          <p:sp>
            <p:nvSpPr>
              <p:cNvPr id="168" name="Google Shape;168;p7"/>
              <p:cNvSpPr/>
              <p:nvPr/>
            </p:nvSpPr>
            <p:spPr>
              <a:xfrm>
                <a:off x="571500" y="2047875"/>
                <a:ext cx="2476500" cy="2286000"/>
              </a:xfrm>
              <a:prstGeom prst="roundRect">
                <a:avLst>
                  <a:gd fmla="val 5000" name="adj"/>
                </a:avLst>
              </a:prstGeom>
              <a:solidFill>
                <a:srgbClr val="18181B">
                  <a:alpha val="70196"/>
                </a:srgbClr>
              </a:solidFill>
              <a:ln cap="flat" cmpd="sng" w="9525">
                <a:solidFill>
                  <a:srgbClr val="27272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7"/>
              <p:cNvSpPr txBox="1"/>
              <p:nvPr/>
            </p:nvSpPr>
            <p:spPr>
              <a:xfrm>
                <a:off x="762000" y="2238375"/>
                <a:ext cx="2095500" cy="1905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s-419" sz="1600" u="none" cap="none" strike="noStrike">
                    <a:solidFill>
                      <a:srgbClr val="2DD4BF"/>
                    </a:solidFill>
                    <a:latin typeface="Roboto ExtraBold"/>
                    <a:ea typeface="Roboto ExtraBold"/>
                    <a:cs typeface="Roboto ExtraBold"/>
                    <a:sym typeface="Roboto ExtraBold"/>
                  </a:rPr>
                  <a:t>01</a:t>
                </a:r>
                <a:endParaRPr b="0" i="0" sz="1600" u="none" cap="none" strike="noStrike">
                  <a:solidFill>
                    <a:srgbClr val="2DD4BF"/>
                  </a:solidFill>
                  <a:latin typeface="Roboto ExtraBold"/>
                  <a:ea typeface="Roboto ExtraBold"/>
                  <a:cs typeface="Roboto ExtraBold"/>
                  <a:sym typeface="Roboto ExtraBold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00"/>
                  </a:buClr>
                  <a:buSzPts val="1150"/>
                  <a:buFont typeface="Arial"/>
                  <a:buNone/>
                </a:pPr>
                <a:r>
                  <a:rPr b="1" i="0" lang="es-419" sz="1150" u="none" cap="none" strike="noStrike">
                    <a:solidFill>
                      <a:srgbClr val="F1F5F9"/>
                    </a:solidFill>
                    <a:latin typeface="Roboto"/>
                    <a:ea typeface="Roboto"/>
                    <a:cs typeface="Roboto"/>
                    <a:sym typeface="Roboto"/>
                  </a:rPr>
                  <a:t>Felipe Urbina</a:t>
                </a:r>
                <a:endParaRPr b="0" i="0" sz="1150" u="none" cap="none" strike="noStrike">
                  <a:solidFill>
                    <a:srgbClr val="2DD4BF"/>
                  </a:solidFill>
                  <a:latin typeface="Roboto ExtraBold"/>
                  <a:ea typeface="Roboto ExtraBold"/>
                  <a:cs typeface="Roboto ExtraBold"/>
                  <a:sym typeface="Roboto ExtraBold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800"/>
                  </a:spcBef>
                  <a:spcAft>
                    <a:spcPts val="0"/>
                  </a:spcAft>
                  <a:buClr>
                    <a:srgbClr val="000000"/>
                  </a:buClr>
                  <a:buSzPts val="825"/>
                  <a:buFont typeface="Arial"/>
                  <a:buNone/>
                </a:pPr>
                <a:r>
                  <a:rPr b="1" i="0" lang="es-419" sz="825" u="none" cap="none" strike="noStrike">
                    <a:solidFill>
                      <a:srgbClr val="2DD4BF"/>
                    </a:solidFill>
                    <a:latin typeface="Roboto"/>
                    <a:ea typeface="Roboto"/>
                    <a:cs typeface="Roboto"/>
                    <a:sym typeface="Roboto"/>
                  </a:rPr>
                  <a:t>Rol Principal:</a:t>
                </a:r>
                <a:r>
                  <a:rPr b="0" i="0" lang="es-419" sz="825" u="none" cap="none" strike="noStrike">
                    <a:solidFill>
                      <a:srgbClr val="2DD4BF"/>
                    </a:solidFill>
                    <a:latin typeface="Roboto ExtraBold"/>
                    <a:ea typeface="Roboto ExtraBold"/>
                    <a:cs typeface="Roboto ExtraBold"/>
                    <a:sym typeface="Roboto ExtraBold"/>
                  </a:rPr>
                  <a:t> </a:t>
                </a:r>
                <a:r>
                  <a:rPr lang="es-419" sz="825">
                    <a:solidFill>
                      <a:srgbClr val="94A3B8"/>
                    </a:solidFill>
                    <a:latin typeface="Roboto"/>
                    <a:ea typeface="Roboto"/>
                    <a:cs typeface="Roboto"/>
                    <a:sym typeface="Roboto"/>
                  </a:rPr>
                  <a:t>Product Owner </a:t>
                </a:r>
                <a:endParaRPr b="0" i="0" sz="825" u="none" cap="none" strike="noStrike">
                  <a:solidFill>
                    <a:srgbClr val="2DD4BF"/>
                  </a:solidFill>
                  <a:latin typeface="Roboto ExtraBold"/>
                  <a:ea typeface="Roboto ExtraBold"/>
                  <a:cs typeface="Roboto ExtraBold"/>
                  <a:sym typeface="Roboto ExtraBold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00"/>
                  </a:buClr>
                  <a:buSzPts val="825"/>
                  <a:buFont typeface="Arial"/>
                  <a:buNone/>
                </a:pPr>
                <a:r>
                  <a:rPr b="1" i="0" lang="es-419" sz="825" u="none" cap="none" strike="noStrike">
                    <a:solidFill>
                      <a:srgbClr val="38BDF8"/>
                    </a:solidFill>
                    <a:latin typeface="Roboto"/>
                    <a:ea typeface="Roboto"/>
                    <a:cs typeface="Roboto"/>
                    <a:sym typeface="Roboto"/>
                  </a:rPr>
                  <a:t>Responsabilidades:</a:t>
                </a:r>
                <a:r>
                  <a:rPr b="0" i="0" lang="es-419" sz="825" u="none" cap="none" strike="noStrike">
                    <a:solidFill>
                      <a:srgbClr val="2DD4BF"/>
                    </a:solidFill>
                    <a:latin typeface="Roboto ExtraBold"/>
                    <a:ea typeface="Roboto ExtraBold"/>
                    <a:cs typeface="Roboto ExtraBold"/>
                    <a:sym typeface="Roboto ExtraBold"/>
                  </a:rPr>
                  <a:t> </a:t>
                </a:r>
                <a:r>
                  <a:rPr lang="es-419" sz="825">
                    <a:solidFill>
                      <a:srgbClr val="CBD5E1"/>
                    </a:solidFill>
                    <a:latin typeface="Roboto"/>
                    <a:ea typeface="Roboto"/>
                    <a:cs typeface="Roboto"/>
                    <a:sym typeface="Roboto"/>
                  </a:rPr>
                  <a:t>Gestión y priorización del Product Backlog (metodología MoSCoW), definición de requerimientos funcionales, validación de entregas en cada Release y alineación del producto con las necesidades clínicas y de negocio. </a:t>
                </a:r>
                <a:endParaRPr b="0" i="0" sz="825" u="none" cap="none" strike="noStrike">
                  <a:solidFill>
                    <a:srgbClr val="2DD4BF"/>
                  </a:solidFill>
                  <a:latin typeface="Roboto ExtraBold"/>
                  <a:ea typeface="Roboto ExtraBold"/>
                  <a:cs typeface="Roboto ExtraBold"/>
                  <a:sym typeface="Roboto ExtraBold"/>
                </a:endParaRPr>
              </a:p>
            </p:txBody>
          </p:sp>
        </p:grpSp>
        <p:grpSp>
          <p:nvGrpSpPr>
            <p:cNvPr id="170" name="Google Shape;170;p7"/>
            <p:cNvGrpSpPr/>
            <p:nvPr/>
          </p:nvGrpSpPr>
          <p:grpSpPr>
            <a:xfrm>
              <a:off x="3333750" y="2047875"/>
              <a:ext cx="2476500" cy="2286000"/>
              <a:chOff x="3333750" y="2047875"/>
              <a:chExt cx="2476500" cy="2286000"/>
            </a:xfrm>
          </p:grpSpPr>
          <p:sp>
            <p:nvSpPr>
              <p:cNvPr id="171" name="Google Shape;171;p7"/>
              <p:cNvSpPr/>
              <p:nvPr/>
            </p:nvSpPr>
            <p:spPr>
              <a:xfrm>
                <a:off x="3333750" y="2047875"/>
                <a:ext cx="2476500" cy="2286000"/>
              </a:xfrm>
              <a:prstGeom prst="roundRect">
                <a:avLst>
                  <a:gd fmla="val 5000" name="adj"/>
                </a:avLst>
              </a:prstGeom>
              <a:solidFill>
                <a:srgbClr val="18181B">
                  <a:alpha val="70196"/>
                </a:srgbClr>
              </a:solidFill>
              <a:ln cap="flat" cmpd="sng" w="9525">
                <a:solidFill>
                  <a:srgbClr val="27272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7"/>
              <p:cNvSpPr txBox="1"/>
              <p:nvPr/>
            </p:nvSpPr>
            <p:spPr>
              <a:xfrm>
                <a:off x="3524250" y="2238375"/>
                <a:ext cx="2095500" cy="1905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s-419" sz="1600" u="none" cap="none" strike="noStrike">
                    <a:solidFill>
                      <a:srgbClr val="2DD4BF"/>
                    </a:solidFill>
                    <a:latin typeface="Roboto ExtraBold"/>
                    <a:ea typeface="Roboto ExtraBold"/>
                    <a:cs typeface="Roboto ExtraBold"/>
                    <a:sym typeface="Roboto ExtraBold"/>
                  </a:rPr>
                  <a:t>02</a:t>
                </a:r>
                <a:endParaRPr b="0" i="0" sz="1600" u="none" cap="none" strike="noStrike">
                  <a:solidFill>
                    <a:srgbClr val="2DD4BF"/>
                  </a:solidFill>
                  <a:latin typeface="Roboto ExtraBold"/>
                  <a:ea typeface="Roboto ExtraBold"/>
                  <a:cs typeface="Roboto ExtraBold"/>
                  <a:sym typeface="Roboto ExtraBold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00"/>
                  </a:buClr>
                  <a:buSzPts val="1150"/>
                  <a:buFont typeface="Arial"/>
                  <a:buNone/>
                </a:pPr>
                <a:r>
                  <a:rPr b="1" i="0" lang="es-419" sz="1150" u="none" cap="none" strike="noStrike">
                    <a:solidFill>
                      <a:srgbClr val="F1F5F9"/>
                    </a:solidFill>
                    <a:latin typeface="Roboto"/>
                    <a:ea typeface="Roboto"/>
                    <a:cs typeface="Roboto"/>
                    <a:sym typeface="Roboto"/>
                  </a:rPr>
                  <a:t>Vicente Solorza</a:t>
                </a:r>
                <a:endParaRPr b="0" i="0" sz="1150" u="none" cap="none" strike="noStrike">
                  <a:solidFill>
                    <a:srgbClr val="2DD4BF"/>
                  </a:solidFill>
                  <a:latin typeface="Roboto ExtraBold"/>
                  <a:ea typeface="Roboto ExtraBold"/>
                  <a:cs typeface="Roboto ExtraBold"/>
                  <a:sym typeface="Roboto ExtraBold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800"/>
                  </a:spcBef>
                  <a:spcAft>
                    <a:spcPts val="0"/>
                  </a:spcAft>
                  <a:buClr>
                    <a:srgbClr val="000000"/>
                  </a:buClr>
                  <a:buSzPts val="825"/>
                  <a:buFont typeface="Arial"/>
                  <a:buNone/>
                </a:pPr>
                <a:r>
                  <a:rPr b="1" i="0" lang="es-419" sz="825" u="none" cap="none" strike="noStrike">
                    <a:solidFill>
                      <a:srgbClr val="2DD4BF"/>
                    </a:solidFill>
                    <a:latin typeface="Roboto"/>
                    <a:ea typeface="Roboto"/>
                    <a:cs typeface="Roboto"/>
                    <a:sym typeface="Roboto"/>
                  </a:rPr>
                  <a:t>Rol Principal:</a:t>
                </a:r>
                <a:r>
                  <a:rPr b="0" i="0" lang="es-419" sz="825" u="none" cap="none" strike="noStrike">
                    <a:solidFill>
                      <a:srgbClr val="2DD4BF"/>
                    </a:solidFill>
                    <a:latin typeface="Roboto ExtraBold"/>
                    <a:ea typeface="Roboto ExtraBold"/>
                    <a:cs typeface="Roboto ExtraBold"/>
                    <a:sym typeface="Roboto ExtraBold"/>
                  </a:rPr>
                  <a:t> </a:t>
                </a:r>
                <a:r>
                  <a:rPr lang="es-419" sz="825">
                    <a:solidFill>
                      <a:srgbClr val="94A3B8"/>
                    </a:solidFill>
                    <a:latin typeface="Roboto"/>
                    <a:ea typeface="Roboto"/>
                    <a:cs typeface="Roboto"/>
                    <a:sym typeface="Roboto"/>
                  </a:rPr>
                  <a:t> Desarrollador Fullstack</a:t>
                </a:r>
                <a:endParaRPr b="0" i="0" sz="825" u="none" cap="none" strike="noStrike">
                  <a:solidFill>
                    <a:srgbClr val="2DD4BF"/>
                  </a:solidFill>
                  <a:latin typeface="Roboto ExtraBold"/>
                  <a:ea typeface="Roboto ExtraBold"/>
                  <a:cs typeface="Roboto ExtraBold"/>
                  <a:sym typeface="Roboto ExtraBold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00"/>
                  </a:buClr>
                  <a:buSzPts val="825"/>
                  <a:buFont typeface="Arial"/>
                  <a:buNone/>
                </a:pPr>
                <a:r>
                  <a:rPr b="1" i="0" lang="es-419" sz="825" u="none" cap="none" strike="noStrike">
                    <a:solidFill>
                      <a:srgbClr val="38BDF8"/>
                    </a:solidFill>
                    <a:latin typeface="Roboto"/>
                    <a:ea typeface="Roboto"/>
                    <a:cs typeface="Roboto"/>
                    <a:sym typeface="Roboto"/>
                  </a:rPr>
                  <a:t>Responsabilidades:</a:t>
                </a:r>
                <a:r>
                  <a:rPr b="0" i="0" lang="es-419" sz="825" u="none" cap="none" strike="noStrike">
                    <a:solidFill>
                      <a:srgbClr val="2DD4BF"/>
                    </a:solidFill>
                    <a:latin typeface="Roboto ExtraBold"/>
                    <a:ea typeface="Roboto ExtraBold"/>
                    <a:cs typeface="Roboto ExtraBold"/>
                    <a:sym typeface="Roboto ExtraBold"/>
                  </a:rPr>
                  <a:t> </a:t>
                </a:r>
                <a:r>
                  <a:rPr lang="es-419" sz="825">
                    <a:solidFill>
                      <a:srgbClr val="CBD5E1"/>
                    </a:solidFill>
                    <a:latin typeface="Roboto"/>
                    <a:ea typeface="Roboto"/>
                    <a:cs typeface="Roboto"/>
                    <a:sym typeface="Roboto"/>
                  </a:rPr>
                  <a:t>Desarrollo del motor de agendamiento y Portal del Paciente Zero-Friction, integración del bot de WhatsApp (Meta Cloud API, LLM y Redis) y diseño de la interfaz web para el profesional de la salud. </a:t>
                </a:r>
                <a:endParaRPr b="0" i="0" sz="825" u="none" cap="none" strike="noStrike">
                  <a:solidFill>
                    <a:srgbClr val="2DD4BF"/>
                  </a:solidFill>
                  <a:latin typeface="Roboto ExtraBold"/>
                  <a:ea typeface="Roboto ExtraBold"/>
                  <a:cs typeface="Roboto ExtraBold"/>
                  <a:sym typeface="Roboto ExtraBold"/>
                </a:endParaRPr>
              </a:p>
            </p:txBody>
          </p:sp>
        </p:grpSp>
        <p:grpSp>
          <p:nvGrpSpPr>
            <p:cNvPr id="173" name="Google Shape;173;p7"/>
            <p:cNvGrpSpPr/>
            <p:nvPr/>
          </p:nvGrpSpPr>
          <p:grpSpPr>
            <a:xfrm>
              <a:off x="6096000" y="2047875"/>
              <a:ext cx="2476500" cy="2286000"/>
              <a:chOff x="6096000" y="2047875"/>
              <a:chExt cx="2476500" cy="2286000"/>
            </a:xfrm>
          </p:grpSpPr>
          <p:sp>
            <p:nvSpPr>
              <p:cNvPr id="174" name="Google Shape;174;p7"/>
              <p:cNvSpPr/>
              <p:nvPr/>
            </p:nvSpPr>
            <p:spPr>
              <a:xfrm>
                <a:off x="6096000" y="2047875"/>
                <a:ext cx="2476500" cy="2286000"/>
              </a:xfrm>
              <a:prstGeom prst="roundRect">
                <a:avLst>
                  <a:gd fmla="val 5000" name="adj"/>
                </a:avLst>
              </a:prstGeom>
              <a:solidFill>
                <a:srgbClr val="18181B">
                  <a:alpha val="70196"/>
                </a:srgbClr>
              </a:solidFill>
              <a:ln cap="flat" cmpd="sng" w="9525">
                <a:solidFill>
                  <a:srgbClr val="27272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7"/>
              <p:cNvSpPr txBox="1"/>
              <p:nvPr/>
            </p:nvSpPr>
            <p:spPr>
              <a:xfrm>
                <a:off x="6286500" y="2238375"/>
                <a:ext cx="2095500" cy="1905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s-419" sz="1600" u="none" cap="none" strike="noStrike">
                    <a:solidFill>
                      <a:srgbClr val="2DD4BF"/>
                    </a:solidFill>
                    <a:latin typeface="Roboto ExtraBold"/>
                    <a:ea typeface="Roboto ExtraBold"/>
                    <a:cs typeface="Roboto ExtraBold"/>
                    <a:sym typeface="Roboto ExtraBold"/>
                  </a:rPr>
                  <a:t>03</a:t>
                </a:r>
                <a:endParaRPr b="0" i="0" sz="1600" u="none" cap="none" strike="noStrike">
                  <a:solidFill>
                    <a:srgbClr val="2DD4BF"/>
                  </a:solidFill>
                  <a:latin typeface="Roboto ExtraBold"/>
                  <a:ea typeface="Roboto ExtraBold"/>
                  <a:cs typeface="Roboto ExtraBold"/>
                  <a:sym typeface="Roboto ExtraBold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00"/>
                  </a:buClr>
                  <a:buSzPts val="1150"/>
                  <a:buFont typeface="Arial"/>
                  <a:buNone/>
                </a:pPr>
                <a:r>
                  <a:rPr b="1" i="0" lang="es-419" sz="1150" u="none" cap="none" strike="noStrike">
                    <a:solidFill>
                      <a:srgbClr val="F1F5F9"/>
                    </a:solidFill>
                    <a:latin typeface="Roboto"/>
                    <a:ea typeface="Roboto"/>
                    <a:cs typeface="Roboto"/>
                    <a:sym typeface="Roboto"/>
                  </a:rPr>
                  <a:t>Maximiliano Durán</a:t>
                </a:r>
                <a:endParaRPr b="0" i="0" sz="1150" u="none" cap="none" strike="noStrike">
                  <a:solidFill>
                    <a:srgbClr val="2DD4BF"/>
                  </a:solidFill>
                  <a:latin typeface="Roboto ExtraBold"/>
                  <a:ea typeface="Roboto ExtraBold"/>
                  <a:cs typeface="Roboto ExtraBold"/>
                  <a:sym typeface="Roboto ExtraBold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800"/>
                  </a:spcBef>
                  <a:spcAft>
                    <a:spcPts val="0"/>
                  </a:spcAft>
                  <a:buClr>
                    <a:srgbClr val="000000"/>
                  </a:buClr>
                  <a:buSzPts val="825"/>
                  <a:buFont typeface="Arial"/>
                  <a:buNone/>
                </a:pPr>
                <a:r>
                  <a:rPr b="1" i="0" lang="es-419" sz="825" u="none" cap="none" strike="noStrike">
                    <a:solidFill>
                      <a:srgbClr val="2DD4BF"/>
                    </a:solidFill>
                    <a:latin typeface="Roboto"/>
                    <a:ea typeface="Roboto"/>
                    <a:cs typeface="Roboto"/>
                    <a:sym typeface="Roboto"/>
                  </a:rPr>
                  <a:t>Rol Principal:</a:t>
                </a:r>
                <a:r>
                  <a:rPr b="0" i="0" lang="es-419" sz="825" u="none" cap="none" strike="noStrike">
                    <a:solidFill>
                      <a:srgbClr val="2DD4BF"/>
                    </a:solidFill>
                    <a:latin typeface="Roboto ExtraBold"/>
                    <a:ea typeface="Roboto ExtraBold"/>
                    <a:cs typeface="Roboto ExtraBold"/>
                    <a:sym typeface="Roboto ExtraBold"/>
                  </a:rPr>
                  <a:t> </a:t>
                </a:r>
                <a:r>
                  <a:rPr lang="es-419" sz="825">
                    <a:solidFill>
                      <a:srgbClr val="94A3B8"/>
                    </a:solidFill>
                    <a:latin typeface="Roboto"/>
                    <a:ea typeface="Roboto"/>
                    <a:cs typeface="Roboto"/>
                    <a:sym typeface="Roboto"/>
                  </a:rPr>
                  <a:t>Jefe de Proyecto y Lead Backend</a:t>
                </a:r>
                <a:endParaRPr b="0" i="0" sz="825" u="none" cap="none" strike="noStrike">
                  <a:solidFill>
                    <a:srgbClr val="2DD4BF"/>
                  </a:solidFill>
                  <a:latin typeface="Roboto ExtraBold"/>
                  <a:ea typeface="Roboto ExtraBold"/>
                  <a:cs typeface="Roboto ExtraBold"/>
                  <a:sym typeface="Roboto ExtraBold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00"/>
                  </a:buClr>
                  <a:buSzPts val="825"/>
                  <a:buFont typeface="Arial"/>
                  <a:buNone/>
                </a:pPr>
                <a:r>
                  <a:rPr b="1" i="0" lang="es-419" sz="825" u="none" cap="none" strike="noStrike">
                    <a:solidFill>
                      <a:srgbClr val="38BDF8"/>
                    </a:solidFill>
                    <a:latin typeface="Roboto"/>
                    <a:ea typeface="Roboto"/>
                    <a:cs typeface="Roboto"/>
                    <a:sym typeface="Roboto"/>
                  </a:rPr>
                  <a:t>Responsabilidades:</a:t>
                </a:r>
                <a:r>
                  <a:rPr b="0" i="0" lang="es-419" sz="825" u="none" cap="none" strike="noStrike">
                    <a:solidFill>
                      <a:srgbClr val="2DD4BF"/>
                    </a:solidFill>
                    <a:latin typeface="Roboto ExtraBold"/>
                    <a:ea typeface="Roboto ExtraBold"/>
                    <a:cs typeface="Roboto ExtraBold"/>
                    <a:sym typeface="Roboto ExtraBold"/>
                  </a:rPr>
                  <a:t> </a:t>
                </a:r>
                <a:r>
                  <a:rPr lang="es-419" sz="825">
                    <a:solidFill>
                      <a:srgbClr val="CBD5E1"/>
                    </a:solidFill>
                    <a:latin typeface="Roboto"/>
                    <a:ea typeface="Roboto"/>
                    <a:cs typeface="Roboto"/>
                    <a:sym typeface="Roboto"/>
                  </a:rPr>
                  <a:t>Control del flujo de trabajo en Kanban, gestión de límites de trabajo en progreso (WIP) dentro del plazo de 18 semanas, arquitectura del backend e implementación de la Bóveda Segura con RLS y cifrado. </a:t>
                </a:r>
                <a:endParaRPr b="0" i="0" sz="825" u="none" cap="none" strike="noStrike">
                  <a:solidFill>
                    <a:srgbClr val="2DD4BF"/>
                  </a:solidFill>
                  <a:latin typeface="Roboto ExtraBold"/>
                  <a:ea typeface="Roboto ExtraBold"/>
                  <a:cs typeface="Roboto ExtraBold"/>
                  <a:sym typeface="Roboto ExtraBold"/>
                </a:endParaRPr>
              </a:p>
            </p:txBody>
          </p:sp>
        </p:grpSp>
        <p:sp>
          <p:nvSpPr>
            <p:cNvPr id="176" name="Google Shape;176;p7"/>
            <p:cNvSpPr txBox="1"/>
            <p:nvPr/>
          </p:nvSpPr>
          <p:spPr>
            <a:xfrm>
              <a:off x="571500" y="4572000"/>
              <a:ext cx="800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s-419" sz="1000" u="none" cap="none" strike="noStrike">
                  <a:solidFill>
                    <a:srgbClr val="94A3B8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Especialización técnica alineada para garantizar un producto escalable, intuitivo y de ciberseguridad avanzada.</a:t>
              </a:r>
              <a:endParaRPr b="0" i="0" sz="1000" u="none" cap="none" strike="noStrike">
                <a:solidFill>
                  <a:srgbClr val="94A3B8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0" y="-2381250"/>
            <a:ext cx="4286400" cy="64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381000"/>
            <a:ext cx="476400" cy="4764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185" name="Google Shape;185;p8"/>
          <p:cNvSpPr txBox="1"/>
          <p:nvPr/>
        </p:nvSpPr>
        <p:spPr>
          <a:xfrm>
            <a:off x="571500" y="619125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2DD4B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Plan de Trabajo</a:t>
            </a:r>
            <a:endParaRPr b="0" i="0" sz="1000" u="none" cap="none" strike="noStrike">
              <a:solidFill>
                <a:srgbClr val="2DD4BF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-419" sz="2700" u="none" cap="none" strike="noStrike">
                <a:solidFill>
                  <a:srgbClr val="F8FAF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Fases del Proyecto</a:t>
            </a:r>
            <a:endParaRPr b="0" i="0" sz="2700" u="none" cap="none" strike="noStrike">
              <a:solidFill>
                <a:srgbClr val="F8FAFC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 sz="11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Enfoque incremental de 4 fases orientado al despliegue seguro, automatizado y normativo de la plataforma SaaS KlinyShield. </a:t>
            </a:r>
            <a:endParaRPr b="0" i="0" sz="1100" u="none" cap="none" strike="noStrike">
              <a:solidFill>
                <a:srgbClr val="94A3B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6" name="Google Shape;186;p8"/>
          <p:cNvGrpSpPr/>
          <p:nvPr/>
        </p:nvGrpSpPr>
        <p:grpSpPr>
          <a:xfrm>
            <a:off x="571500" y="2047875"/>
            <a:ext cx="1905000" cy="2286000"/>
            <a:chOff x="571500" y="2047875"/>
            <a:chExt cx="1905000" cy="2286000"/>
          </a:xfrm>
        </p:grpSpPr>
        <p:sp>
          <p:nvSpPr>
            <p:cNvPr id="187" name="Google Shape;187;p8"/>
            <p:cNvSpPr/>
            <p:nvPr/>
          </p:nvSpPr>
          <p:spPr>
            <a:xfrm>
              <a:off x="571500" y="2047875"/>
              <a:ext cx="1905000" cy="2286000"/>
            </a:xfrm>
            <a:prstGeom prst="roundRect">
              <a:avLst>
                <a:gd fmla="val 6000" name="adj"/>
              </a:avLst>
            </a:prstGeom>
            <a:solidFill>
              <a:srgbClr val="18181B">
                <a:alpha val="70196"/>
              </a:srgbClr>
            </a:solidFill>
            <a:ln cap="flat" cmpd="sng" w="9525">
              <a:solidFill>
                <a:srgbClr val="2727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8"/>
            <p:cNvSpPr txBox="1"/>
            <p:nvPr/>
          </p:nvSpPr>
          <p:spPr>
            <a:xfrm>
              <a:off x="714375" y="2238375"/>
              <a:ext cx="16191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-419" sz="1600" u="none" cap="none" strike="noStrike">
                  <a:solidFill>
                    <a:srgbClr val="2DD4B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F1: Seguridad &amp; Multi-Tenant </a:t>
              </a:r>
              <a:endParaRPr b="0" i="0" sz="1600" u="none" cap="none" strike="noStrike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s-419" sz="95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Aislamiento RLS: Garantía de datos segregados por clínica.</a:t>
              </a:r>
              <a:endParaRPr sz="95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s-419" sz="95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Protección: Cifrado en reposo y respaldos continuos.</a:t>
              </a:r>
              <a:endParaRPr sz="95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s-419" sz="95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Auditoría: Registro inmutable de acciones y accesos.</a:t>
              </a:r>
              <a:endParaRPr sz="95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9" name="Google Shape;189;p8"/>
          <p:cNvGrpSpPr/>
          <p:nvPr/>
        </p:nvGrpSpPr>
        <p:grpSpPr>
          <a:xfrm>
            <a:off x="2600325" y="2047875"/>
            <a:ext cx="1905075" cy="2286000"/>
            <a:chOff x="2600325" y="2047875"/>
            <a:chExt cx="1905075" cy="2286000"/>
          </a:xfrm>
        </p:grpSpPr>
        <p:sp>
          <p:nvSpPr>
            <p:cNvPr id="190" name="Google Shape;190;p8"/>
            <p:cNvSpPr/>
            <p:nvPr/>
          </p:nvSpPr>
          <p:spPr>
            <a:xfrm>
              <a:off x="2600325" y="2047875"/>
              <a:ext cx="1905000" cy="2286000"/>
            </a:xfrm>
            <a:prstGeom prst="roundRect">
              <a:avLst>
                <a:gd fmla="val 6000" name="adj"/>
              </a:avLst>
            </a:prstGeom>
            <a:solidFill>
              <a:srgbClr val="18181B">
                <a:alpha val="70196"/>
              </a:srgbClr>
            </a:solidFill>
            <a:ln cap="flat" cmpd="sng" w="9525">
              <a:solidFill>
                <a:srgbClr val="2727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8"/>
            <p:cNvSpPr txBox="1"/>
            <p:nvPr/>
          </p:nvSpPr>
          <p:spPr>
            <a:xfrm>
              <a:off x="2743200" y="2238375"/>
              <a:ext cx="17622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-419" sz="1600" u="none" cap="none" strike="noStrike">
                  <a:solidFill>
                    <a:srgbClr val="2DD4B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F2</a:t>
              </a:r>
              <a:r>
                <a:rPr lang="es-419" sz="1600">
                  <a:solidFill>
                    <a:srgbClr val="2DD4B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: Agendamiento e IA</a:t>
              </a:r>
              <a:endParaRPr sz="1600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419" sz="95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Bot WhatsApp: IA para interpretación de texto y audio.</a:t>
              </a:r>
              <a:endParaRPr sz="95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419" sz="95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Reservas: Motor anti double-booking y cancelación.</a:t>
              </a:r>
              <a:endParaRPr sz="95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419" sz="95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Notificaciones: Recordatorios y webhooks seguros.</a:t>
              </a:r>
              <a:endParaRPr sz="95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2" name="Google Shape;192;p8"/>
          <p:cNvGrpSpPr/>
          <p:nvPr/>
        </p:nvGrpSpPr>
        <p:grpSpPr>
          <a:xfrm>
            <a:off x="4629150" y="2047875"/>
            <a:ext cx="1905000" cy="2286000"/>
            <a:chOff x="4629150" y="2047875"/>
            <a:chExt cx="1905000" cy="2286000"/>
          </a:xfrm>
        </p:grpSpPr>
        <p:sp>
          <p:nvSpPr>
            <p:cNvPr id="193" name="Google Shape;193;p8"/>
            <p:cNvSpPr/>
            <p:nvPr/>
          </p:nvSpPr>
          <p:spPr>
            <a:xfrm>
              <a:off x="4629150" y="2047875"/>
              <a:ext cx="1905000" cy="2286000"/>
            </a:xfrm>
            <a:prstGeom prst="roundRect">
              <a:avLst>
                <a:gd fmla="val 6000" name="adj"/>
              </a:avLst>
            </a:prstGeom>
            <a:solidFill>
              <a:srgbClr val="18181B">
                <a:alpha val="70196"/>
              </a:srgbClr>
            </a:solidFill>
            <a:ln cap="flat" cmpd="sng" w="9525">
              <a:solidFill>
                <a:srgbClr val="2727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8"/>
            <p:cNvSpPr txBox="1"/>
            <p:nvPr/>
          </p:nvSpPr>
          <p:spPr>
            <a:xfrm>
              <a:off x="4772025" y="2238375"/>
              <a:ext cx="16191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-419" sz="1600" u="none" cap="none" strike="noStrike">
                  <a:solidFill>
                    <a:srgbClr val="2DD4B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F3: Entorno </a:t>
              </a:r>
              <a:r>
                <a:rPr lang="es-419" sz="1600">
                  <a:solidFill>
                    <a:srgbClr val="2DD4B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Clínico</a:t>
              </a:r>
              <a:endParaRPr b="0" i="0" sz="1600" u="none" cap="none" strike="noStrike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lang="es-419" sz="95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Ficha Médica: Notas con autoguardado y sellado.</a:t>
              </a:r>
              <a:endParaRPr sz="95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lang="es-419" sz="95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Bóveda Segura: Archivos privados con URLs temporales.</a:t>
              </a:r>
              <a:endParaRPr sz="95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lang="es-419" sz="95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Trazabilidad: Historial clínico unificado y auditable.</a:t>
              </a:r>
              <a:endParaRPr sz="95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5" name="Google Shape;195;p8"/>
          <p:cNvGrpSpPr/>
          <p:nvPr/>
        </p:nvGrpSpPr>
        <p:grpSpPr>
          <a:xfrm>
            <a:off x="6667500" y="2047875"/>
            <a:ext cx="1905000" cy="2286000"/>
            <a:chOff x="6667500" y="2047875"/>
            <a:chExt cx="1905000" cy="2286000"/>
          </a:xfrm>
        </p:grpSpPr>
        <p:sp>
          <p:nvSpPr>
            <p:cNvPr id="196" name="Google Shape;196;p8"/>
            <p:cNvSpPr/>
            <p:nvPr/>
          </p:nvSpPr>
          <p:spPr>
            <a:xfrm>
              <a:off x="6667500" y="2047875"/>
              <a:ext cx="1905000" cy="2286000"/>
            </a:xfrm>
            <a:prstGeom prst="roundRect">
              <a:avLst>
                <a:gd fmla="val 6000" name="adj"/>
              </a:avLst>
            </a:prstGeom>
            <a:solidFill>
              <a:srgbClr val="18181B">
                <a:alpha val="70196"/>
              </a:srgbClr>
            </a:solidFill>
            <a:ln cap="flat" cmpd="sng" w="9525">
              <a:solidFill>
                <a:srgbClr val="2727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8"/>
            <p:cNvSpPr txBox="1"/>
            <p:nvPr/>
          </p:nvSpPr>
          <p:spPr>
            <a:xfrm>
              <a:off x="6810375" y="2238375"/>
              <a:ext cx="16191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-419" sz="1600" u="none" cap="none" strike="noStrike">
                  <a:solidFill>
                    <a:srgbClr val="2DD4B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F4: Paciente y Cierre</a:t>
              </a:r>
              <a:endParaRPr b="0" i="0" sz="1600" u="none" cap="none" strike="noStrike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lang="es-419" sz="95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Portal Zero-Friction: Acceso con Magic Links sin clave.</a:t>
              </a:r>
              <a:endParaRPr sz="95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lang="es-419" sz="95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Finanzas: Envío automático de boletas y trazabilidad.</a:t>
              </a:r>
              <a:endParaRPr sz="95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lang="es-419" sz="95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Métricas: Visibilidad operativa sin pasarela de pago.</a:t>
              </a:r>
              <a:endParaRPr sz="95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98" name="Google Shape;198;p8"/>
          <p:cNvSpPr txBox="1"/>
          <p:nvPr/>
        </p:nvSpPr>
        <p:spPr>
          <a:xfrm>
            <a:off x="571500" y="4667250"/>
            <a:ext cx="1905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419" sz="1100" u="none" cap="none" strike="noStrike">
                <a:solidFill>
                  <a:srgbClr val="94A3B8"/>
                </a:solidFill>
                <a:latin typeface="Roboto Medium"/>
                <a:ea typeface="Roboto Medium"/>
                <a:cs typeface="Roboto Medium"/>
                <a:sym typeface="Roboto Medium"/>
              </a:rPr>
              <a:t>klinyshield.cl</a:t>
            </a:r>
            <a:endParaRPr b="0" i="0" sz="1100" u="none" cap="none" strike="noStrike">
              <a:solidFill>
                <a:srgbClr val="94A3B8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" name="Google Shape;20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0" y="-2381250"/>
            <a:ext cx="4286400" cy="64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381000"/>
            <a:ext cx="476400" cy="4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9"/>
          <p:cNvSpPr txBox="1"/>
          <p:nvPr/>
        </p:nvSpPr>
        <p:spPr>
          <a:xfrm>
            <a:off x="571500" y="523875"/>
            <a:ext cx="80010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2DD4B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Plan de Trabajo</a:t>
            </a:r>
            <a:endParaRPr b="0" i="0" sz="1000" u="none" cap="none" strike="noStrike">
              <a:solidFill>
                <a:srgbClr val="2DD4BF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s-419" sz="2700">
                <a:solidFill>
                  <a:srgbClr val="F8FAF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Base de Datos</a:t>
            </a:r>
            <a:endParaRPr b="0" i="0" sz="2700" u="none" cap="none" strike="noStrike">
              <a:solidFill>
                <a:srgbClr val="F8FAFC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94A3B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9"/>
          <p:cNvSpPr txBox="1"/>
          <p:nvPr/>
        </p:nvSpPr>
        <p:spPr>
          <a:xfrm>
            <a:off x="7048500" y="4457700"/>
            <a:ext cx="1524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419" sz="1100" u="none" cap="none" strike="noStrike">
                <a:solidFill>
                  <a:srgbClr val="94A3B8"/>
                </a:solidFill>
                <a:latin typeface="Roboto Medium"/>
                <a:ea typeface="Roboto Medium"/>
                <a:cs typeface="Roboto Medium"/>
                <a:sym typeface="Roboto Medium"/>
              </a:rPr>
              <a:t>klinyshield.cl</a:t>
            </a:r>
            <a:endParaRPr b="0" i="0" sz="1100" u="none" cap="none" strike="noStrike">
              <a:solidFill>
                <a:srgbClr val="94A3B8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209" name="Google Shape;209;p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58501" y="1203975"/>
            <a:ext cx="5965626" cy="383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9f346afc3_2_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5" name="Google Shape;215;g3f9f346afc3_2_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g3f9f346afc3_2_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0" y="-2381250"/>
            <a:ext cx="4286401" cy="64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g3f9f346afc3_2_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381000"/>
            <a:ext cx="476400" cy="4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g3f9f346afc3_2_14"/>
          <p:cNvSpPr txBox="1"/>
          <p:nvPr/>
        </p:nvSpPr>
        <p:spPr>
          <a:xfrm>
            <a:off x="571500" y="523875"/>
            <a:ext cx="80010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2DD4B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Plan de Trabajo</a:t>
            </a:r>
            <a:endParaRPr b="0" i="0" sz="1000" u="none" cap="none" strike="noStrike">
              <a:solidFill>
                <a:srgbClr val="2DD4BF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-419" sz="2700" u="none" cap="none" strike="noStrike">
                <a:solidFill>
                  <a:srgbClr val="F8FAF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Arquitectura de la Solución</a:t>
            </a:r>
            <a:endParaRPr b="0" i="0" sz="2700" u="none" cap="none" strike="noStrike">
              <a:solidFill>
                <a:srgbClr val="F8FAFC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419" sz="11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Infraestructura Cloud, seguridad en capas y aislamiento Multi-Tenant de extremo a extremo.</a:t>
            </a:r>
            <a:endParaRPr b="0" i="0" sz="1100" u="none" cap="none" strike="noStrike">
              <a:solidFill>
                <a:srgbClr val="94A3B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19" name="Google Shape;219;g3f9f346afc3_2_14"/>
          <p:cNvGrpSpPr/>
          <p:nvPr/>
        </p:nvGrpSpPr>
        <p:grpSpPr>
          <a:xfrm>
            <a:off x="571500" y="1905000"/>
            <a:ext cx="2476500" cy="2428800"/>
            <a:chOff x="571500" y="1905000"/>
            <a:chExt cx="2476500" cy="2428800"/>
          </a:xfrm>
        </p:grpSpPr>
        <p:sp>
          <p:nvSpPr>
            <p:cNvPr id="220" name="Google Shape;220;g3f9f346afc3_2_14"/>
            <p:cNvSpPr/>
            <p:nvPr/>
          </p:nvSpPr>
          <p:spPr>
            <a:xfrm>
              <a:off x="571500" y="1905000"/>
              <a:ext cx="2476500" cy="2428800"/>
            </a:xfrm>
            <a:prstGeom prst="roundRect">
              <a:avLst>
                <a:gd fmla="val 4705" name="adj"/>
              </a:avLst>
            </a:prstGeom>
            <a:solidFill>
              <a:srgbClr val="18181B">
                <a:alpha val="70200"/>
              </a:srgbClr>
            </a:solidFill>
            <a:ln cap="flat" cmpd="sng" w="9525">
              <a:solidFill>
                <a:srgbClr val="2727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g3f9f346afc3_2_14"/>
            <p:cNvSpPr txBox="1"/>
            <p:nvPr/>
          </p:nvSpPr>
          <p:spPr>
            <a:xfrm>
              <a:off x="762000" y="2047875"/>
              <a:ext cx="2095500" cy="214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-419" sz="1600" u="none" cap="none" strike="noStrike">
                  <a:solidFill>
                    <a:srgbClr val="2DD4B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01</a:t>
              </a:r>
              <a:endParaRPr b="0" i="0" sz="1600" u="none" cap="none" strike="noStrike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s-419" sz="1100" u="none" cap="none" strike="noStrike">
                  <a:solidFill>
                    <a:srgbClr val="F1F5F9"/>
                  </a:solidFill>
                  <a:latin typeface="Roboto"/>
                  <a:ea typeface="Roboto"/>
                  <a:cs typeface="Roboto"/>
                  <a:sym typeface="Roboto"/>
                </a:rPr>
                <a:t>Capa de Aplicación y Notificaciones</a:t>
              </a:r>
              <a:endParaRPr b="1" i="0" sz="1100" u="none" cap="none" strike="noStrike">
                <a:solidFill>
                  <a:srgbClr val="F1F5F9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s-419" sz="825" u="none" cap="none" strike="noStrike">
                  <a:solidFill>
                    <a:srgbClr val="2DD4BF"/>
                  </a:solidFill>
                  <a:latin typeface="Roboto"/>
                  <a:ea typeface="Roboto"/>
                  <a:cs typeface="Roboto"/>
                  <a:sym typeface="Roboto"/>
                </a:rPr>
                <a:t>Frontend &amp; API:</a:t>
              </a:r>
              <a:r>
                <a:rPr b="0" i="0" lang="es-419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-419" sz="825" u="none" cap="none" strike="noStrike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Interfaz moderna en Modo Oscuro conectada a servicios stateless mediante JWT y Magic Links con revocación efímera.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s-419" sz="825" u="none" cap="none" strike="noStrike">
                  <a:solidFill>
                    <a:srgbClr val="2DD4BF"/>
                  </a:solidFill>
                  <a:latin typeface="Roboto"/>
                  <a:ea typeface="Roboto"/>
                  <a:cs typeface="Roboto"/>
                  <a:sym typeface="Roboto"/>
                </a:rPr>
                <a:t>Orquestador Asíncrono:</a:t>
              </a:r>
              <a:r>
                <a:rPr b="0" i="0" lang="es-419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-419" sz="825" u="none" cap="none" strike="noStrike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Motor de mensajería (WhatsApp/Email) para reservas, recordatorios y entrega de boletas electrónicas.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2" name="Google Shape;222;g3f9f346afc3_2_14"/>
          <p:cNvGrpSpPr/>
          <p:nvPr/>
        </p:nvGrpSpPr>
        <p:grpSpPr>
          <a:xfrm>
            <a:off x="3333750" y="1905000"/>
            <a:ext cx="2476500" cy="2428800"/>
            <a:chOff x="3333750" y="1905000"/>
            <a:chExt cx="2476500" cy="2428800"/>
          </a:xfrm>
        </p:grpSpPr>
        <p:sp>
          <p:nvSpPr>
            <p:cNvPr id="223" name="Google Shape;223;g3f9f346afc3_2_14"/>
            <p:cNvSpPr/>
            <p:nvPr/>
          </p:nvSpPr>
          <p:spPr>
            <a:xfrm>
              <a:off x="3333750" y="1905000"/>
              <a:ext cx="2476500" cy="2428800"/>
            </a:xfrm>
            <a:prstGeom prst="roundRect">
              <a:avLst>
                <a:gd fmla="val 4705" name="adj"/>
              </a:avLst>
            </a:prstGeom>
            <a:solidFill>
              <a:srgbClr val="18181B">
                <a:alpha val="70200"/>
              </a:srgbClr>
            </a:solidFill>
            <a:ln cap="flat" cmpd="sng" w="9525">
              <a:solidFill>
                <a:srgbClr val="2727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g3f9f346afc3_2_14"/>
            <p:cNvSpPr txBox="1"/>
            <p:nvPr/>
          </p:nvSpPr>
          <p:spPr>
            <a:xfrm>
              <a:off x="3524250" y="2047875"/>
              <a:ext cx="2095500" cy="214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-419" sz="1600" u="none" cap="none" strike="noStrike">
                  <a:solidFill>
                    <a:srgbClr val="2DD4B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02</a:t>
              </a:r>
              <a:endParaRPr b="0" i="0" sz="1600" u="none" cap="none" strike="noStrike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s-419" sz="1100" u="none" cap="none" strike="noStrike">
                  <a:solidFill>
                    <a:srgbClr val="F1F5F9"/>
                  </a:solidFill>
                  <a:latin typeface="Roboto"/>
                  <a:ea typeface="Roboto"/>
                  <a:cs typeface="Roboto"/>
                  <a:sym typeface="Roboto"/>
                </a:rPr>
                <a:t>Capa de Datos y Aislamiento</a:t>
              </a:r>
              <a:endParaRPr b="1" i="0" sz="1100" u="none" cap="none" strike="noStrike">
                <a:solidFill>
                  <a:srgbClr val="F1F5F9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s-419" sz="825" u="none" cap="none" strike="noStrike">
                  <a:solidFill>
                    <a:srgbClr val="2DD4BF"/>
                  </a:solidFill>
                  <a:latin typeface="Roboto"/>
                  <a:ea typeface="Roboto"/>
                  <a:cs typeface="Roboto"/>
                  <a:sym typeface="Roboto"/>
                </a:rPr>
                <a:t>Multi-Tenancy:</a:t>
              </a:r>
              <a:r>
                <a:rPr b="0" i="0" lang="es-419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-419" sz="825" u="none" cap="none" strike="noStrike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Filtrado estricto mediante Row Level Security (RLS) usando professional_id como clave de aislamiento de datos.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s-419" sz="825" u="none" cap="none" strike="noStrike">
                  <a:solidFill>
                    <a:srgbClr val="2DD4BF"/>
                  </a:solidFill>
                  <a:latin typeface="Roboto"/>
                  <a:ea typeface="Roboto"/>
                  <a:cs typeface="Roboto"/>
                  <a:sym typeface="Roboto"/>
                </a:rPr>
                <a:t>Auditoría Inmutable:</a:t>
              </a:r>
              <a:r>
                <a:rPr b="0" i="0" lang="es-419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-419" sz="825" u="none" cap="none" strike="noStrike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Registro automático de eventos (Append-Only) en audit_events mediante triggers nativos de base de datos.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5" name="Google Shape;225;g3f9f346afc3_2_14"/>
          <p:cNvGrpSpPr/>
          <p:nvPr/>
        </p:nvGrpSpPr>
        <p:grpSpPr>
          <a:xfrm>
            <a:off x="6096000" y="1905000"/>
            <a:ext cx="2476500" cy="2428800"/>
            <a:chOff x="6096000" y="1905000"/>
            <a:chExt cx="2476500" cy="2428800"/>
          </a:xfrm>
        </p:grpSpPr>
        <p:sp>
          <p:nvSpPr>
            <p:cNvPr id="226" name="Google Shape;226;g3f9f346afc3_2_14"/>
            <p:cNvSpPr/>
            <p:nvPr/>
          </p:nvSpPr>
          <p:spPr>
            <a:xfrm>
              <a:off x="6096000" y="1905000"/>
              <a:ext cx="2476500" cy="2428800"/>
            </a:xfrm>
            <a:prstGeom prst="roundRect">
              <a:avLst>
                <a:gd fmla="val 4705" name="adj"/>
              </a:avLst>
            </a:prstGeom>
            <a:solidFill>
              <a:srgbClr val="18181B">
                <a:alpha val="70200"/>
              </a:srgbClr>
            </a:solidFill>
            <a:ln cap="flat" cmpd="sng" w="9525">
              <a:solidFill>
                <a:srgbClr val="2727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g3f9f346afc3_2_14"/>
            <p:cNvSpPr txBox="1"/>
            <p:nvPr/>
          </p:nvSpPr>
          <p:spPr>
            <a:xfrm>
              <a:off x="6286500" y="2047875"/>
              <a:ext cx="2095500" cy="214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-419" sz="1600" u="none" cap="none" strike="noStrike">
                  <a:solidFill>
                    <a:srgbClr val="2DD4B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03</a:t>
              </a:r>
              <a:endParaRPr b="0" i="0" sz="1600" u="none" cap="none" strike="noStrike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s-419" sz="1100" u="none" cap="none" strike="noStrike">
                  <a:solidFill>
                    <a:srgbClr val="F1F5F9"/>
                  </a:solidFill>
                  <a:latin typeface="Roboto"/>
                  <a:ea typeface="Roboto"/>
                  <a:cs typeface="Roboto"/>
                  <a:sym typeface="Roboto"/>
                </a:rPr>
                <a:t>Capa de Almacenamiento y Cifrado</a:t>
              </a:r>
              <a:endParaRPr b="1" i="0" sz="1100" u="none" cap="none" strike="noStrike">
                <a:solidFill>
                  <a:srgbClr val="F1F5F9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s-419" sz="825" u="none" cap="none" strike="noStrike">
                  <a:solidFill>
                    <a:srgbClr val="2DD4BF"/>
                  </a:solidFill>
                  <a:latin typeface="Roboto"/>
                  <a:ea typeface="Roboto"/>
                  <a:cs typeface="Roboto"/>
                  <a:sym typeface="Roboto"/>
                </a:rPr>
                <a:t>Bóveda Médica:</a:t>
              </a:r>
              <a:r>
                <a:rPr b="0" i="0" lang="es-419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-419" sz="825" u="none" cap="none" strike="noStrike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Cifrado TDE/AES-256 para notas clínicas, registros médicos confidenciales y archivos altamente sensibles.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s-419" sz="825" u="none" cap="none" strike="noStrike">
                  <a:solidFill>
                    <a:srgbClr val="2DD4BF"/>
                  </a:solidFill>
                  <a:latin typeface="Roboto"/>
                  <a:ea typeface="Roboto"/>
                  <a:cs typeface="Roboto"/>
                  <a:sym typeface="Roboto"/>
                </a:rPr>
                <a:t>Acceso Seguro:</a:t>
              </a:r>
              <a:r>
                <a:rPr b="0" i="0" lang="es-419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-419" sz="825" u="none" cap="none" strike="noStrike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Generación de Signed URLs temporales para la descarga de comprobantes financieros y anexos sin exponer el bucket.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8" name="Google Shape;228;g3f9f346afc3_2_14"/>
          <p:cNvSpPr txBox="1"/>
          <p:nvPr/>
        </p:nvSpPr>
        <p:spPr>
          <a:xfrm>
            <a:off x="571500" y="4457700"/>
            <a:ext cx="571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94A3B8"/>
                </a:solidFill>
                <a:latin typeface="Roboto Medium"/>
                <a:ea typeface="Roboto Medium"/>
                <a:cs typeface="Roboto Medium"/>
                <a:sym typeface="Roboto Medium"/>
              </a:rPr>
              <a:t>Diseñada bajo el principio de Zero-Trust: aislamiento total, auditoría garantizada y comunicación asíncrona resiliente.</a:t>
            </a:r>
            <a:endParaRPr b="0" i="0" sz="1000" u="none" cap="none" strike="noStrike">
              <a:solidFill>
                <a:srgbClr val="94A3B8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29" name="Google Shape;229;g3f9f346afc3_2_14"/>
          <p:cNvSpPr txBox="1"/>
          <p:nvPr/>
        </p:nvSpPr>
        <p:spPr>
          <a:xfrm>
            <a:off x="7048500" y="4457700"/>
            <a:ext cx="1524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419" sz="1100" u="none" cap="none" strike="noStrike">
                <a:solidFill>
                  <a:srgbClr val="94A3B8"/>
                </a:solidFill>
                <a:latin typeface="Roboto Medium"/>
                <a:ea typeface="Roboto Medium"/>
                <a:cs typeface="Roboto Medium"/>
                <a:sym typeface="Roboto Medium"/>
              </a:rPr>
              <a:t>klinyshield.cl</a:t>
            </a:r>
            <a:endParaRPr b="0" i="0" sz="1100" u="none" cap="none" strike="noStrike">
              <a:solidFill>
                <a:srgbClr val="94A3B8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5" name="Google Shape;23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pic>
        <p:nvPicPr>
          <p:cNvPr id="236" name="Google Shape;23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0" y="-2381250"/>
            <a:ext cx="4286400" cy="64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381000"/>
            <a:ext cx="476400" cy="4764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238" name="Google Shape;238;p10"/>
          <p:cNvSpPr txBox="1"/>
          <p:nvPr/>
        </p:nvSpPr>
        <p:spPr>
          <a:xfrm>
            <a:off x="571500" y="523875"/>
            <a:ext cx="8001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2DD4B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Plan de Trabajo</a:t>
            </a:r>
            <a:endParaRPr b="0" i="0" sz="1000" u="none" cap="none" strike="noStrike">
              <a:solidFill>
                <a:srgbClr val="2DD4BF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-419" sz="2700" u="none" cap="none" strike="noStrike">
                <a:solidFill>
                  <a:srgbClr val="F8FAF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Conclusión y Próximos Pasos</a:t>
            </a:r>
            <a:endParaRPr b="0" i="0" sz="1000" u="none" cap="none" strike="noStrike">
              <a:solidFill>
                <a:srgbClr val="2DD4BF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419" sz="11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Hacia la consolidación de KlinyShield como el estándar seguro para la gestión médica independiente.</a:t>
            </a:r>
            <a:endParaRPr b="0" i="0" sz="1000" u="none" cap="none" strike="noStrike">
              <a:solidFill>
                <a:srgbClr val="2DD4BF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grpSp>
        <p:nvGrpSpPr>
          <p:cNvPr id="239" name="Google Shape;239;p10"/>
          <p:cNvGrpSpPr/>
          <p:nvPr/>
        </p:nvGrpSpPr>
        <p:grpSpPr>
          <a:xfrm>
            <a:off x="571500" y="1857375"/>
            <a:ext cx="2476500" cy="2428800"/>
            <a:chOff x="571500" y="1857375"/>
            <a:chExt cx="2476500" cy="2428800"/>
          </a:xfrm>
        </p:grpSpPr>
        <p:sp>
          <p:nvSpPr>
            <p:cNvPr id="240" name="Google Shape;240;p10"/>
            <p:cNvSpPr/>
            <p:nvPr/>
          </p:nvSpPr>
          <p:spPr>
            <a:xfrm>
              <a:off x="571500" y="1857375"/>
              <a:ext cx="2476500" cy="2428800"/>
            </a:xfrm>
            <a:prstGeom prst="roundRect">
              <a:avLst>
                <a:gd fmla="val 4705" name="adj"/>
              </a:avLst>
            </a:prstGeom>
            <a:solidFill>
              <a:srgbClr val="18181B">
                <a:alpha val="70196"/>
              </a:srgbClr>
            </a:solidFill>
            <a:ln cap="flat" cmpd="sng" w="9525">
              <a:solidFill>
                <a:srgbClr val="2727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10"/>
            <p:cNvSpPr txBox="1"/>
            <p:nvPr/>
          </p:nvSpPr>
          <p:spPr>
            <a:xfrm>
              <a:off x="762000" y="2000250"/>
              <a:ext cx="2095500" cy="2143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-419" sz="1600" u="none" cap="none" strike="noStrike">
                  <a:solidFill>
                    <a:srgbClr val="2DD4B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01</a:t>
              </a:r>
              <a:endParaRPr b="0" i="0" sz="1600" u="none" cap="none" strike="noStrike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s-419" sz="1100" u="none" cap="none" strike="noStrike">
                  <a:solidFill>
                    <a:srgbClr val="F1F5F9"/>
                  </a:solidFill>
                  <a:latin typeface="Roboto"/>
                  <a:ea typeface="Roboto"/>
                  <a:cs typeface="Roboto"/>
                  <a:sym typeface="Roboto"/>
                </a:rPr>
                <a:t>Conclusión General</a:t>
              </a:r>
              <a:endParaRPr b="0" i="0" sz="1100" u="none" cap="none" strike="noStrike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s-419" sz="825" u="none" cap="none" strike="noStrike">
                  <a:solidFill>
                    <a:srgbClr val="2DD4BF"/>
                  </a:solidFill>
                  <a:latin typeface="Roboto"/>
                  <a:ea typeface="Roboto"/>
                  <a:cs typeface="Roboto"/>
                  <a:sym typeface="Roboto"/>
                </a:rPr>
                <a:t>Punto Clave:</a:t>
              </a:r>
              <a:r>
                <a:rPr b="0" i="0" lang="es-419" sz="825" u="none" cap="none" strike="noStrike">
                  <a:solidFill>
                    <a:srgbClr val="2DD4B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 </a:t>
              </a:r>
              <a:r>
                <a:rPr b="0" i="0" lang="es-419" sz="825" u="none" cap="none" strike="noStrike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Plataforma SaaS robusta, multi-tenant y compliant que resuelve la fricción operativa sin comprometer la ciberseguridad ni la privacidad de la ficha médica.</a:t>
              </a:r>
              <a:endParaRPr b="0" i="0" sz="825" u="none" cap="none" strike="noStrike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s-419" sz="825" u="none" cap="none" strike="noStrike">
                  <a:solidFill>
                    <a:srgbClr val="2DD4BF"/>
                  </a:solidFill>
                  <a:latin typeface="Roboto"/>
                  <a:ea typeface="Roboto"/>
                  <a:cs typeface="Roboto"/>
                  <a:sym typeface="Roboto"/>
                </a:rPr>
                <a:t>Valor:</a:t>
              </a:r>
              <a:r>
                <a:rPr b="0" i="0" lang="es-419" sz="825" u="none" cap="none" strike="noStrike">
                  <a:solidFill>
                    <a:srgbClr val="2DD4B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 </a:t>
              </a:r>
              <a:r>
                <a:rPr b="0" i="0" lang="es-419" sz="825" u="none" cap="none" strike="noStrike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Entrega de arquitectura con aislamiento RLS, auditoría inmutable en BD y orquestación asíncrona de notificaciones.</a:t>
              </a:r>
              <a:endParaRPr b="0" i="0" sz="825" u="none" cap="none" strike="noStrike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</p:txBody>
        </p:sp>
      </p:grpSp>
      <p:grpSp>
        <p:nvGrpSpPr>
          <p:cNvPr id="242" name="Google Shape;242;p10"/>
          <p:cNvGrpSpPr/>
          <p:nvPr/>
        </p:nvGrpSpPr>
        <p:grpSpPr>
          <a:xfrm>
            <a:off x="3333750" y="1857375"/>
            <a:ext cx="2476500" cy="2428800"/>
            <a:chOff x="3333750" y="1857375"/>
            <a:chExt cx="2476500" cy="2428800"/>
          </a:xfrm>
        </p:grpSpPr>
        <p:sp>
          <p:nvSpPr>
            <p:cNvPr id="243" name="Google Shape;243;p10"/>
            <p:cNvSpPr/>
            <p:nvPr/>
          </p:nvSpPr>
          <p:spPr>
            <a:xfrm>
              <a:off x="3333750" y="1857375"/>
              <a:ext cx="2476500" cy="2428800"/>
            </a:xfrm>
            <a:prstGeom prst="roundRect">
              <a:avLst>
                <a:gd fmla="val 4705" name="adj"/>
              </a:avLst>
            </a:prstGeom>
            <a:solidFill>
              <a:srgbClr val="18181B">
                <a:alpha val="70196"/>
              </a:srgbClr>
            </a:solidFill>
            <a:ln cap="flat" cmpd="sng" w="9525">
              <a:solidFill>
                <a:srgbClr val="2727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10"/>
            <p:cNvSpPr txBox="1"/>
            <p:nvPr/>
          </p:nvSpPr>
          <p:spPr>
            <a:xfrm>
              <a:off x="3524250" y="2000250"/>
              <a:ext cx="2095500" cy="2143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-419" sz="1600" u="none" cap="none" strike="noStrike">
                  <a:solidFill>
                    <a:srgbClr val="2DD4B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02</a:t>
              </a:r>
              <a:endParaRPr b="0" i="0" sz="1600" u="none" cap="none" strike="noStrike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s-419" sz="1100" u="none" cap="none" strike="noStrike">
                  <a:solidFill>
                    <a:srgbClr val="F1F5F9"/>
                  </a:solidFill>
                  <a:latin typeface="Roboto"/>
                  <a:ea typeface="Roboto"/>
                  <a:cs typeface="Roboto"/>
                  <a:sym typeface="Roboto"/>
                </a:rPr>
                <a:t>Próximos Pasos Técnicos</a:t>
              </a:r>
              <a:endParaRPr b="0" i="0" sz="1100" u="none" cap="none" strike="noStrike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s-419" sz="825" u="none" cap="none" strike="noStrike">
                  <a:solidFill>
                    <a:srgbClr val="2DD4BF"/>
                  </a:solidFill>
                  <a:latin typeface="Roboto"/>
                  <a:ea typeface="Roboto"/>
                  <a:cs typeface="Roboto"/>
                  <a:sym typeface="Roboto"/>
                </a:rPr>
                <a:t>Punto Clave:</a:t>
              </a:r>
              <a:r>
                <a:rPr b="0" i="0" lang="es-419" sz="825" u="none" cap="none" strike="noStrike">
                  <a:solidFill>
                    <a:srgbClr val="2DD4B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 </a:t>
              </a:r>
              <a:r>
                <a:rPr b="0" i="0" lang="es-419" sz="825" u="none" cap="none" strike="noStrike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Finalización de pruebas de estrés en CI/CD, despliegue de políticas RLS finales en producción y validación de Signed URLs en GCP.</a:t>
              </a:r>
              <a:endParaRPr b="0" i="0" sz="825" u="none" cap="none" strike="noStrike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s-419" sz="825" u="none" cap="none" strike="noStrike">
                  <a:solidFill>
                    <a:srgbClr val="2DD4BF"/>
                  </a:solidFill>
                  <a:latin typeface="Roboto"/>
                  <a:ea typeface="Roboto"/>
                  <a:cs typeface="Roboto"/>
                  <a:sym typeface="Roboto"/>
                </a:rPr>
                <a:t>Valor:</a:t>
              </a:r>
              <a:r>
                <a:rPr b="0" i="0" lang="es-419" sz="825" u="none" cap="none" strike="noStrike">
                  <a:solidFill>
                    <a:srgbClr val="2DD4B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 </a:t>
              </a:r>
              <a:r>
                <a:rPr b="0" i="0" lang="es-419" sz="825" u="none" cap="none" strike="noStrike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Certificación de continuidad operativa y simulaciones de DR (Disaster Recovery).</a:t>
              </a:r>
              <a:endParaRPr b="0" i="0" sz="825" u="none" cap="none" strike="noStrike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</p:txBody>
        </p:sp>
      </p:grpSp>
      <p:grpSp>
        <p:nvGrpSpPr>
          <p:cNvPr id="245" name="Google Shape;245;p10"/>
          <p:cNvGrpSpPr/>
          <p:nvPr/>
        </p:nvGrpSpPr>
        <p:grpSpPr>
          <a:xfrm>
            <a:off x="6096000" y="1857375"/>
            <a:ext cx="2476500" cy="2428800"/>
            <a:chOff x="6096000" y="1857375"/>
            <a:chExt cx="2476500" cy="2428800"/>
          </a:xfrm>
        </p:grpSpPr>
        <p:sp>
          <p:nvSpPr>
            <p:cNvPr id="246" name="Google Shape;246;p10"/>
            <p:cNvSpPr/>
            <p:nvPr/>
          </p:nvSpPr>
          <p:spPr>
            <a:xfrm>
              <a:off x="6096000" y="1857375"/>
              <a:ext cx="2476500" cy="2428800"/>
            </a:xfrm>
            <a:prstGeom prst="roundRect">
              <a:avLst>
                <a:gd fmla="val 4705" name="adj"/>
              </a:avLst>
            </a:prstGeom>
            <a:solidFill>
              <a:srgbClr val="18181B">
                <a:alpha val="70196"/>
              </a:srgbClr>
            </a:solidFill>
            <a:ln cap="flat" cmpd="sng" w="9525">
              <a:solidFill>
                <a:srgbClr val="2727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10"/>
            <p:cNvSpPr txBox="1"/>
            <p:nvPr/>
          </p:nvSpPr>
          <p:spPr>
            <a:xfrm>
              <a:off x="6286500" y="2000250"/>
              <a:ext cx="2095500" cy="2143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-419" sz="1600" u="none" cap="none" strike="noStrike">
                  <a:solidFill>
                    <a:srgbClr val="2DD4B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03</a:t>
              </a:r>
              <a:endParaRPr b="0" i="0" sz="1600" u="none" cap="none" strike="noStrike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s-419" sz="1100" u="none" cap="none" strike="noStrike">
                  <a:solidFill>
                    <a:srgbClr val="F1F5F9"/>
                  </a:solidFill>
                  <a:latin typeface="Roboto"/>
                  <a:ea typeface="Roboto"/>
                  <a:cs typeface="Roboto"/>
                  <a:sym typeface="Roboto"/>
                </a:rPr>
                <a:t>Estrategia de Lanzamiento</a:t>
              </a:r>
              <a:endParaRPr b="0" i="0" sz="1100" u="none" cap="none" strike="noStrike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s-419" sz="825" u="none" cap="none" strike="noStrike">
                  <a:solidFill>
                    <a:srgbClr val="2DD4BF"/>
                  </a:solidFill>
                  <a:latin typeface="Roboto"/>
                  <a:ea typeface="Roboto"/>
                  <a:cs typeface="Roboto"/>
                  <a:sym typeface="Roboto"/>
                </a:rPr>
                <a:t>Punto Clave:</a:t>
              </a:r>
              <a:r>
                <a:rPr b="0" i="0" lang="es-419" sz="825" u="none" cap="none" strike="noStrike">
                  <a:solidFill>
                    <a:srgbClr val="2DD4B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 </a:t>
              </a:r>
              <a:r>
                <a:rPr b="0" i="0" lang="es-419" sz="825" u="none" cap="none" strike="noStrike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Onboarding controlado con un cohorte inicial de profesionales de la salud independientes y refinamiento de UX/UI.</a:t>
              </a:r>
              <a:endParaRPr b="0" i="0" sz="825" u="none" cap="none" strike="noStrike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s-419" sz="825" u="none" cap="none" strike="noStrike">
                  <a:solidFill>
                    <a:srgbClr val="2DD4BF"/>
                  </a:solidFill>
                  <a:latin typeface="Roboto"/>
                  <a:ea typeface="Roboto"/>
                  <a:cs typeface="Roboto"/>
                  <a:sym typeface="Roboto"/>
                </a:rPr>
                <a:t>Valor:</a:t>
              </a:r>
              <a:r>
                <a:rPr b="0" i="0" lang="es-419" sz="825" u="none" cap="none" strike="noStrike">
                  <a:solidFill>
                    <a:srgbClr val="2DD4B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 </a:t>
              </a:r>
              <a:r>
                <a:rPr b="0" i="0" lang="es-419" sz="825" u="none" cap="none" strike="noStrike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Escalabilidad comercial progresiva garantizando soporte y disponibilidad del 99.9%.</a:t>
              </a:r>
              <a:endParaRPr b="0" i="0" sz="825" u="none" cap="none" strike="noStrike">
                <a:solidFill>
                  <a:srgbClr val="2DD4B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</p:txBody>
        </p:sp>
      </p:grpSp>
      <p:sp>
        <p:nvSpPr>
          <p:cNvPr id="248" name="Google Shape;248;p10"/>
          <p:cNvSpPr txBox="1"/>
          <p:nvPr/>
        </p:nvSpPr>
        <p:spPr>
          <a:xfrm>
            <a:off x="571500" y="4457700"/>
            <a:ext cx="5715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94A3B8"/>
                </a:solidFill>
                <a:latin typeface="Roboto Medium"/>
                <a:ea typeface="Roboto Medium"/>
                <a:cs typeface="Roboto Medium"/>
                <a:sym typeface="Roboto Medium"/>
              </a:rPr>
              <a:t>"Construyendo el futuro de la salud digital: más ágil, más humana y completamente segura."</a:t>
            </a:r>
            <a:endParaRPr b="0" i="0" sz="1000" u="none" cap="none" strike="noStrike">
              <a:solidFill>
                <a:srgbClr val="94A3B8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49" name="Google Shape;249;p10"/>
          <p:cNvSpPr txBox="1"/>
          <p:nvPr/>
        </p:nvSpPr>
        <p:spPr>
          <a:xfrm>
            <a:off x="7048500" y="4457700"/>
            <a:ext cx="1524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419" sz="1100" u="none" cap="none" strike="noStrike">
                <a:solidFill>
                  <a:srgbClr val="94A3B8"/>
                </a:solidFill>
                <a:latin typeface="Roboto Medium"/>
                <a:ea typeface="Roboto Medium"/>
                <a:cs typeface="Roboto Medium"/>
                <a:sym typeface="Roboto Medium"/>
              </a:rPr>
              <a:t>klinyshield.cl</a:t>
            </a:r>
            <a:endParaRPr b="0" i="0" sz="1100" u="none" cap="none" strike="noStrike">
              <a:solidFill>
                <a:srgbClr val="94A3B8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